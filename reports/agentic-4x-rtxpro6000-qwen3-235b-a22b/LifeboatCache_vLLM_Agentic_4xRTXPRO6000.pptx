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8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time to first token (s),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time to first token (s)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26.7</c:v>
                </c:pt>
                <c:pt idx="1">
                  <c:v>17.1</c:v>
                </c:pt>
                <c:pt idx="2">
                  <c:v>9.1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Output tokens/s, higher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</c:v>
                </c:pt>
                <c:pt idx="1">
                  <c:v>148</c:v>
                </c:pt>
                <c:pt idx="2">
                  <c:v>219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Output tokens/s at 64 agents, by host DRAM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+ LMCache</c:v>
                </c:pt>
              </c:strCache>
            </c:strRef>
          </c:tx>
          <c:spPr>
            <a:solidFill>
              <a:srgbClr val="5B6C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64 GB</c:v>
                  </c:pt>
                  <c:pt idx="1">
                    <c:v>128 GB</c:v>
                  </c:pt>
                  <c:pt idx="2">
                    <c:v>256 GB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104</c:v>
                </c:pt>
                <c:pt idx="1">
                  <c:v>148</c:v>
                </c:pt>
                <c:pt idx="2">
                  <c:v>217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64 GB</c:v>
                  </c:pt>
                  <c:pt idx="1">
                    <c:v>128 GB</c:v>
                  </c:pt>
                  <c:pt idx="2">
                    <c:v>256 GB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219</c:v>
                </c:pt>
                <c:pt idx="1">
                  <c:v>219</c:v>
                </c:pt>
                <c:pt idx="2">
                  <c:v>220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time to first token (s) at 64 agents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+ LMCache</c:v>
                </c:pt>
              </c:strCache>
            </c:strRef>
          </c:tx>
          <c:spPr>
            <a:solidFill>
              <a:srgbClr val="5B6C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64 GB</c:v>
                  </c:pt>
                  <c:pt idx="1">
                    <c:v>128 GB</c:v>
                  </c:pt>
                  <c:pt idx="2">
                    <c:v>256 GB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24.8</c:v>
                </c:pt>
                <c:pt idx="1">
                  <c:v>17.1</c:v>
                </c:pt>
                <c:pt idx="2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64 GB</c:v>
                  </c:pt>
                  <c:pt idx="1">
                    <c:v>128 GB</c:v>
                  </c:pt>
                  <c:pt idx="2">
                    <c:v>256 GB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9.2</c:v>
                </c:pt>
                <c:pt idx="1">
                  <c:v>9.1</c:v>
                </c:pt>
                <c:pt idx="2">
                  <c:v>9.1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time to first token (s),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time to first token (s)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137.5</c:v>
                </c:pt>
                <c:pt idx="1">
                  <c:v>113.5</c:v>
                </c:pt>
                <c:pt idx="2">
                  <c:v>42.7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Output tokens/s, higher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AE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B6C8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9F8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vLLM alone</c:v>
                  </c:pt>
                  <c:pt idx="1">
                    <c:v>+ LMCache</c:v>
                  </c:pt>
                  <c:pt idx="2">
                    <c:v>+ LifeboatCache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87</c:v>
                </c:pt>
                <c:pt idx="2">
                  <c:v>208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GPU energy efficiency (output tokens per joule), higher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alone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0.071</c:v>
                </c:pt>
                <c:pt idx="1">
                  <c:v>0.053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LMCache</c:v>
                </c:pt>
              </c:strCache>
            </c:strRef>
          </c:tx>
          <c:spPr>
            <a:solidFill>
              <a:srgbClr val="5B6C8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0.113</c:v>
                </c:pt>
                <c:pt idx="1">
                  <c:v>0.065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0.171</c:v>
                </c:pt>
                <c:pt idx="1">
                  <c:v>0.159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4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430"/>
                </a:solidFill>
                <a:latin typeface="+mn-lt"/>
              </a:rPr>
              <a:t>Mean time to first token in the last round (s),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vLLM alone</c:v>
                </c:pt>
              </c:strCache>
            </c:strRef>
          </c:tx>
          <c:spPr>
            <a:solidFill>
              <a:srgbClr val="A3AE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29.5</c:v>
                </c:pt>
                <c:pt idx="1">
                  <c:v>182.9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vLLM + LMCache</c:v>
                </c:pt>
              </c:strCache>
            </c:strRef>
          </c:tx>
          <c:spPr>
            <a:solidFill>
              <a:srgbClr val="5B6C8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20.2</c:v>
                </c:pt>
                <c:pt idx="1">
                  <c:v>154.2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vLLM + LifeboatCache</c:v>
                </c:pt>
              </c:strCache>
            </c:strRef>
          </c:tx>
          <c:spPr>
            <a:solidFill>
              <a:srgbClr val="0E9F8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64 agents</c:v>
                  </c:pt>
                  <c:pt idx="1">
                    <c:v>128 agents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8.9</c:v>
                </c:pt>
                <c:pt idx="1">
                  <c:v>45.4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4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9E0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C8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4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C8F"/>
                </a:solidFill>
              </a:rPr>
              <a:t>LifeboatCache  |  Iterate.ai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LifeboatCache on vLLM: agentic KV-cache offload on 4x RTX PRO 6000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Qwen3-235B-A22B across four GPUs, real agent sessions, 32 to 128 concurrent agents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64 agents, LifeboatCache cuts time to first token 2.9x</a:t>
            </a:r>
            <a:endParaRPr lang="en-US" sz="3200" dirty="0"/>
          </a:p>
        </p:txBody>
      </p:sp>
      <p:sp>
        <p:nvSpPr>
          <p:cNvPr id="3" name="ttft card"/>
          <p:cNvSpPr/>
          <p:nvPr/>
        </p:nvSpPr>
        <p:spPr>
          <a:xfrm>
            <a:off x="54864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ttft value"/>
          <p:cNvSpPr txBox="1"/>
          <p:nvPr/>
        </p:nvSpPr>
        <p:spPr>
          <a:xfrm>
            <a:off x="82296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2.9x</a:t>
            </a:r>
            <a:endParaRPr lang="en-US" sz="4800" dirty="0"/>
          </a:p>
        </p:txBody>
      </p:sp>
      <p:sp>
        <p:nvSpPr>
          <p:cNvPr id="5" name="ttft label"/>
          <p:cNvSpPr txBox="1"/>
          <p:nvPr/>
        </p:nvSpPr>
        <p:spPr>
          <a:xfrm>
            <a:off x="82296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faster time to first token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9.1 s vs 26.7 s with vLLM alone</a:t>
            </a:r>
            <a:endParaRPr lang="en-US" sz="1600" dirty="0"/>
          </a:p>
        </p:txBody>
      </p:sp>
      <p:sp>
        <p:nvSpPr>
          <p:cNvPr id="6" name="tps card"/>
          <p:cNvSpPr/>
          <p:nvPr/>
        </p:nvSpPr>
        <p:spPr>
          <a:xfrm>
            <a:off x="434340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tps value"/>
          <p:cNvSpPr txBox="1"/>
          <p:nvPr/>
        </p:nvSpPr>
        <p:spPr>
          <a:xfrm>
            <a:off x="461772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2.3x</a:t>
            </a:r>
            <a:endParaRPr lang="en-US" sz="4800" dirty="0"/>
          </a:p>
        </p:txBody>
      </p:sp>
      <p:sp>
        <p:nvSpPr>
          <p:cNvPr id="8" name="tps label"/>
          <p:cNvSpPr txBox="1"/>
          <p:nvPr/>
        </p:nvSpPr>
        <p:spPr>
          <a:xfrm>
            <a:off x="461772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output tokens per second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219 vs 94 tok/s with vLLM alone</a:t>
            </a:r>
            <a:endParaRPr lang="en-US" sz="1600" dirty="0"/>
          </a:p>
        </p:txBody>
      </p:sp>
      <p:sp>
        <p:nvSpPr>
          <p:cNvPr id="9" name="vs lmcache card"/>
          <p:cNvSpPr/>
          <p:nvPr/>
        </p:nvSpPr>
        <p:spPr>
          <a:xfrm>
            <a:off x="8138160" y="146304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0" name="vs lmcache value"/>
          <p:cNvSpPr txBox="1"/>
          <p:nvPr/>
        </p:nvSpPr>
        <p:spPr>
          <a:xfrm>
            <a:off x="841248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+48%</a:t>
            </a:r>
            <a:endParaRPr lang="en-US" sz="4800" dirty="0"/>
          </a:p>
        </p:txBody>
      </p:sp>
      <p:sp>
        <p:nvSpPr>
          <p:cNvPr id="11" name="vs lmcache label"/>
          <p:cNvSpPr txBox="1"/>
          <p:nvPr/>
        </p:nvSpPr>
        <p:spPr>
          <a:xfrm>
            <a:off x="8412480" y="26060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throughput vs vLLM + LMCache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same 128 GB of DRAM: 219 vs 148 tok/s</a:t>
            </a:r>
            <a:endParaRPr lang="en-US" sz="1600" dirty="0"/>
          </a:p>
        </p:txBody>
      </p:sp>
      <p:sp>
        <p:nvSpPr>
          <p:cNvPr id="12" name="summary text"/>
          <p:cNvSpPr txBox="1"/>
          <p:nvPr/>
        </p:nvSpPr>
        <p:spPr>
          <a:xfrm>
            <a:off x="548640" y="38404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On a 235-billion-parameter model the GPUs hold only about ten long agent sessions at once. LifeboatCache keeps the rest in host DRAM and local NVMe, so a returning agent is served from cache instead of being recomputed.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At 128 agents the gap widens: 208 tok/s against 70 for vLLM alone, 3.0x.</a:t>
            </a:r>
            <a:endParaRPr lang="en-US" sz="16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vLLM 0.32 on 4x RTX PRO 6000 (tensor parallel 4), Qwen3-235B-A22B-FP8, 64 concurrent agents, 128 GB host DRAM tier (32 GB per GPU) for both caches. Mean time to first token; sustained output tokens/s.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setup</a:t>
            </a:r>
            <a:endParaRPr lang="en-US" sz="3200" dirty="0"/>
          </a:p>
        </p:txBody>
      </p:sp>
      <p:sp>
        <p:nvSpPr>
          <p:cNvPr id="3" name="Hardware card"/>
          <p:cNvSpPr/>
          <p:nvPr/>
        </p:nvSpPr>
        <p:spPr>
          <a:xfrm>
            <a:off x="548640" y="14630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Hardware heading"/>
          <p:cNvSpPr txBox="1"/>
          <p:nvPr/>
        </p:nvSpPr>
        <p:spPr>
          <a:xfrm>
            <a:off x="77724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</a:t>
            </a:r>
            <a:endParaRPr lang="en-US" sz="2000" dirty="0"/>
          </a:p>
        </p:txBody>
      </p:sp>
      <p:sp>
        <p:nvSpPr>
          <p:cNvPr id="5" name="Hardware text"/>
          <p:cNvSpPr txBox="1"/>
          <p:nvPr/>
        </p:nvSpPr>
        <p:spPr>
          <a:xfrm>
            <a:off x="777240" y="224028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4x NVIDIA RTX PRO 6000 Blackwell, 96 GB each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Intel Xeon Platinum 8559C (Emerald Rapids), 1 TB RAM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2x local NVMe for the disk tier</a:t>
            </a:r>
            <a:endParaRPr lang="en-US" sz="1500" dirty="0"/>
          </a:p>
        </p:txBody>
      </p:sp>
      <p:sp>
        <p:nvSpPr>
          <p:cNvPr id="6" name="Software card"/>
          <p:cNvSpPr/>
          <p:nvPr/>
        </p:nvSpPr>
        <p:spPr>
          <a:xfrm>
            <a:off x="3383280" y="14630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Software heading"/>
          <p:cNvSpPr txBox="1"/>
          <p:nvPr/>
        </p:nvSpPr>
        <p:spPr>
          <a:xfrm>
            <a:off x="361188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</a:t>
            </a:r>
            <a:endParaRPr lang="en-US" sz="2000" dirty="0"/>
          </a:p>
        </p:txBody>
      </p:sp>
      <p:sp>
        <p:nvSpPr>
          <p:cNvPr id="8" name="Software text"/>
          <p:cNvSpPr txBox="1"/>
          <p:nvPr/>
        </p:nvSpPr>
        <p:spPr>
          <a:xfrm>
            <a:off x="3611880" y="224028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vLLM 0.32.0, Qwen3-235B-A22B-FP8, tensor parallel 4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LMCache 0.5.6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LifeboatCache 0.1.23</a:t>
            </a:r>
            <a:endParaRPr lang="en-US" sz="1500" dirty="0"/>
          </a:p>
        </p:txBody>
      </p:sp>
      <p:sp>
        <p:nvSpPr>
          <p:cNvPr id="9" name="Workload card"/>
          <p:cNvSpPr/>
          <p:nvPr/>
        </p:nvSpPr>
        <p:spPr>
          <a:xfrm>
            <a:off x="6217920" y="14630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0" name="Workload heading"/>
          <p:cNvSpPr txBox="1"/>
          <p:nvPr/>
        </p:nvSpPr>
        <p:spPr>
          <a:xfrm>
            <a:off x="644652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Workload</a:t>
            </a:r>
            <a:endParaRPr lang="en-US" sz="2000" dirty="0"/>
          </a:p>
        </p:txBody>
      </p:sp>
      <p:sp>
        <p:nvSpPr>
          <p:cNvPr id="11" name="Workload text"/>
          <p:cNvSpPr txBox="1"/>
          <p:nvPr/>
        </p:nvSpPr>
        <p:spPr>
          <a:xfrm>
            <a:off x="6446520" y="224028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Real agent sessions (SWE-bench Verified, GAIA, WildClawBench) replayed turn by turn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10 rounds per agent, 256 output tokens, 40,960-token context</a:t>
            </a:r>
            <a:endParaRPr lang="en-US" sz="1500" dirty="0"/>
          </a:p>
        </p:txBody>
      </p:sp>
      <p:sp>
        <p:nvSpPr>
          <p:cNvPr id="12" name="Configurations card"/>
          <p:cNvSpPr/>
          <p:nvPr/>
        </p:nvSpPr>
        <p:spPr>
          <a:xfrm>
            <a:off x="9052560" y="14630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Configurations heading"/>
          <p:cNvSpPr txBox="1"/>
          <p:nvPr/>
        </p:nvSpPr>
        <p:spPr>
          <a:xfrm>
            <a:off x="9281160" y="169164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Configurations</a:t>
            </a:r>
            <a:endParaRPr lang="en-US" sz="2000" dirty="0"/>
          </a:p>
        </p:txBody>
      </p:sp>
      <p:sp>
        <p:nvSpPr>
          <p:cNvPr id="14" name="Configurations text"/>
          <p:cNvSpPr txBox="1"/>
          <p:nvPr/>
        </p:nvSpPr>
        <p:spPr>
          <a:xfrm>
            <a:off x="9281160" y="2240280"/>
            <a:ext cx="2148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vLLM alone (GPU prefix cache)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vLLM + LMCache (host DRAM)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vLLM + LifeboatCache (host DRAM + NVMe)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DRAM tier: 64 to 512 GB per server</a:t>
            </a:r>
            <a:endParaRPr lang="en-US" sz="1500" dirty="0"/>
          </a:p>
        </p:txBody>
      </p:sp>
      <p:sp>
        <p:nvSpPr>
          <p:cNvPr id="1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Every cell starts a fresh server with empty caches and sends the same requests and output lengths. DRAM is the whole server's host-RAM KV tier, the same for both caches. About 1% of requests (sessions longer than the context) are rejected identically in every configuration.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 agents at 128 GB DRAM: LifeboatCache leads</a:t>
            </a:r>
            <a:endParaRPr lang="en-US" sz="3200" dirty="0"/>
          </a:p>
        </p:txBody>
      </p:sp>
      <p:graphicFrame>
        <p:nvGraphicFramePr>
          <p:cNvPr id="3" name="ttft chart" descr=""/>
          <p:cNvGraphicFramePr/>
          <p:nvPr/>
        </p:nvGraphicFramePr>
        <p:xfrm>
          <a:off x="548640" y="1371600"/>
          <a:ext cx="5394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ps chart" descr=""/>
          <p:cNvGraphicFramePr/>
          <p:nvPr/>
        </p:nvGraphicFramePr>
        <p:xfrm>
          <a:off x="6217920" y="1371600"/>
          <a:ext cx="5394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p99 time to first token: vLLM alone 71 s, + LMCache 52 s, + LifeboatCache 26 s. Share of prompt tokens served from cache: 12%, 53%, 75%.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by host DRAM size</a:t>
            </a:r>
            <a:endParaRPr lang="en-US" sz="3200" dirty="0"/>
          </a:p>
        </p:txBody>
      </p:sp>
      <p:graphicFrame>
        <p:nvGraphicFramePr>
          <p:cNvPr id="3" name="dram tps chart" descr=""/>
          <p:cNvGraphicFramePr/>
          <p:nvPr/>
        </p:nvGraphicFramePr>
        <p:xfrm>
          <a:off x="548640" y="1371600"/>
          <a:ext cx="5394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dram ttft chart" descr=""/>
          <p:cNvGraphicFramePr/>
          <p:nvPr/>
        </p:nvGraphicFramePr>
        <p:xfrm>
          <a:off x="6217920" y="1371600"/>
          <a:ext cx="53949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vLLM alone, for reference: 94 tok/s and 26.7 s. DRAM is per server (four GPUs): 64 GB (16 GB/GPU), 128 GB (32 GB/GPU), 256 GB (64 GB/GPU). At 512 GB (over half of this server's 1 TB of RAM) vLLM 0.32 could not pin its CPU offload tier and LifeboatCache ran slower there; a fix is in progress.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128 agents: 3.0x the throughput of vLLM alone</a:t>
            </a:r>
            <a:endParaRPr lang="en-US" sz="3200" dirty="0"/>
          </a:p>
        </p:txBody>
      </p:sp>
      <p:graphicFrame>
        <p:nvGraphicFramePr>
          <p:cNvPr id="3" name="u128 ttft chart" descr=""/>
          <p:cNvGraphicFramePr/>
          <p:nvPr/>
        </p:nvGraphicFramePr>
        <p:xfrm>
          <a:off x="548640" y="13716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u128 tps chart" descr=""/>
          <p:cNvGraphicFramePr/>
          <p:nvPr/>
        </p:nvGraphicFramePr>
        <p:xfrm>
          <a:off x="6217920" y="1371600"/>
          <a:ext cx="5394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128 GB of host DRAM for both caches; LifeboatCache's NVMe tier sized at 2 TB on the server's local NVMe. Share of prompt tokens served from cache: vLLM alone 1%, + LMCache 24%, + LifeboatCache 79%. With a 250 GB NVMe tier, too small for 128 agents' KV on this model, LifeboatCache gave 80.3 s / 119 tok/s.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to 3.0x more output tokens per joule</a:t>
            </a:r>
            <a:endParaRPr lang="en-US" sz="3200" dirty="0"/>
          </a:p>
        </p:txBody>
      </p:sp>
      <p:graphicFrame>
        <p:nvGraphicFramePr>
          <p:cNvPr id="3" name="energy chart" descr=""/>
          <p:cNvGraphicFramePr/>
          <p:nvPr/>
        </p:nvGraphicFramePr>
        <p:xfrm>
          <a:off x="548640" y="13716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energy text"/>
          <p:cNvSpPr txBox="1"/>
          <p:nvPr/>
        </p:nvSpPr>
        <p:spPr>
          <a:xfrm>
            <a:off x="7589520" y="1645920"/>
            <a:ext cx="4023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Recomputing evicted context burns GPU energy without producing tokens.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64 agents: 2.4x vLLM alone, 1.5x LMCache. 128 agents: 3.0x vLLM alone, 2.4x LMCache.</a:t>
            </a:r>
            <a:endParaRPr lang="en-US" sz="1600" dirty="0"/>
          </a:p>
        </p:txBody>
      </p:sp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GPU energy from nvidia-smi over each run (CPU package energy was not readable on this cloud server). 128 GB host DRAM for both caches; LifeboatCache at 128 agents with its 2 TB NVMe tier.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Latency stays low as agent sessions grow</a:t>
            </a:r>
            <a:endParaRPr lang="en-US" sz="3200" dirty="0"/>
          </a:p>
        </p:txBody>
      </p:sp>
      <p:graphicFrame>
        <p:nvGraphicFramePr>
          <p:cNvPr id="3" name="last round chart" descr=""/>
          <p:cNvGraphicFramePr/>
          <p:nvPr/>
        </p:nvGraphicFramePr>
        <p:xfrm>
          <a:off x="548640" y="13716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round text"/>
          <p:cNvSpPr txBox="1"/>
          <p:nvPr/>
        </p:nvSpPr>
        <p:spPr>
          <a:xfrm>
            <a:off x="7589520" y="1645920"/>
            <a:ext cx="4023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64 agents, round 1 → round 10: vLLM alone 2.1 → 29.5 s; LMCache 2.0 → 20.2 s; LifeboatCache 2.1 → 8.9 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128 agents, round 1 → round 10: vLLM alone 10.7 → 182.9 s; LMCache 10.8 → 154.2 s; LifeboatCache 10.8 → 45.4 s.</a:t>
            </a:r>
            <a:endParaRPr lang="en-US" sz="1500" dirty="0"/>
          </a:p>
        </p:txBody>
      </p:sp>
      <p:sp>
        <p:nvSpPr>
          <p:cNvPr id="5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Every agent starts at round 1 at the same time, so round 1 is equal across configurations; each later round re-sends a longer conversation. Without offload, evicted context is recomputed every round.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agents within a latency target, work done sooner</a:t>
            </a:r>
            <a:endParaRPr lang="en-US" sz="3200" dirty="0"/>
          </a:p>
        </p:txBody>
      </p:sp>
      <p:graphicFrame>
        <p:nvGraphicFramePr>
          <p:cNvPr id="10" name="sla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468880"/>
                <a:gridCol w="2560320"/>
                <a:gridCol w="26517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p99 time to first token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alone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LMCache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LifeboatCache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30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60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 300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wall-clock, 640 requests (64 agents)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wall-clock, 1280 requests (128 agents)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34.8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 min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Most agents among those tested (32, 64, 128) whose p99 time to first token met the target. Wall-clock: time to finish the same requests. 128 GB host DRAM; LifeboatCache at 128 agents with its 2 TB NVMe tier.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 agents: no overhead when the GPUs hold the sessions</a:t>
            </a:r>
            <a:endParaRPr lang="en-US" sz="3200" dirty="0"/>
          </a:p>
        </p:txBody>
      </p:sp>
      <p:sp>
        <p:nvSpPr>
          <p:cNvPr id="3" name="light vllm card"/>
          <p:cNvSpPr/>
          <p:nvPr/>
        </p:nvSpPr>
        <p:spPr>
          <a:xfrm>
            <a:off x="548640" y="1554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4" name="light vllm value"/>
          <p:cNvSpPr txBox="1"/>
          <p:nvPr/>
        </p:nvSpPr>
        <p:spPr>
          <a:xfrm>
            <a:off x="822960" y="17830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0.90 s</a:t>
            </a:r>
            <a:endParaRPr lang="en-US" sz="4800" dirty="0"/>
          </a:p>
        </p:txBody>
      </p:sp>
      <p:sp>
        <p:nvSpPr>
          <p:cNvPr id="5" name="light vllm label"/>
          <p:cNvSpPr txBox="1"/>
          <p:nvPr/>
        </p:nvSpPr>
        <p:spPr>
          <a:xfrm>
            <a:off x="822960" y="2697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vLLM alone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204 output tok/s</a:t>
            </a:r>
            <a:endParaRPr lang="en-US" sz="1600" dirty="0"/>
          </a:p>
        </p:txBody>
      </p:sp>
      <p:sp>
        <p:nvSpPr>
          <p:cNvPr id="6" name="light lmcache card"/>
          <p:cNvSpPr/>
          <p:nvPr/>
        </p:nvSpPr>
        <p:spPr>
          <a:xfrm>
            <a:off x="4343400" y="1554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7" name="light lmcache value"/>
          <p:cNvSpPr txBox="1"/>
          <p:nvPr/>
        </p:nvSpPr>
        <p:spPr>
          <a:xfrm>
            <a:off x="4617720" y="17830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1.10 s</a:t>
            </a:r>
            <a:endParaRPr lang="en-US" sz="4800" dirty="0"/>
          </a:p>
        </p:txBody>
      </p:sp>
      <p:sp>
        <p:nvSpPr>
          <p:cNvPr id="8" name="light lmcache label"/>
          <p:cNvSpPr txBox="1"/>
          <p:nvPr/>
        </p:nvSpPr>
        <p:spPr>
          <a:xfrm>
            <a:off x="4617720" y="2697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vLLM + LMCache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206 output tok/s</a:t>
            </a:r>
            <a:endParaRPr lang="en-US" sz="1600" dirty="0"/>
          </a:p>
        </p:txBody>
      </p:sp>
      <p:sp>
        <p:nvSpPr>
          <p:cNvPr id="9" name="light lbc card"/>
          <p:cNvSpPr/>
          <p:nvPr/>
        </p:nvSpPr>
        <p:spPr>
          <a:xfrm>
            <a:off x="8138160" y="1554480"/>
            <a:ext cx="3520440" cy="2103120"/>
          </a:xfrm>
          <a:prstGeom prst="roundRect">
            <a:avLst>
              <a:gd name="adj" fmla="val 5217"/>
            </a:avLst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0" name="light lbc value"/>
          <p:cNvSpPr txBox="1"/>
          <p:nvPr/>
        </p:nvSpPr>
        <p:spPr>
          <a:xfrm>
            <a:off x="8412480" y="17830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 s</a:t>
            </a:r>
            <a:endParaRPr lang="en-US" sz="4800" dirty="0"/>
          </a:p>
        </p:txBody>
      </p:sp>
      <p:sp>
        <p:nvSpPr>
          <p:cNvPr id="11" name="light lbc label"/>
          <p:cNvSpPr txBox="1"/>
          <p:nvPr/>
        </p:nvSpPr>
        <p:spPr>
          <a:xfrm>
            <a:off x="8412480" y="269748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vLLM + LifeboatCache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204 output tok/s</a:t>
            </a:r>
            <a:endParaRPr lang="en-US" sz="1600" dirty="0"/>
          </a:p>
        </p:txBody>
      </p:sp>
      <p:sp>
        <p:nvSpPr>
          <p:cNvPr id="12" name="light text"/>
          <p:cNvSpPr txBox="1"/>
          <p:nvPr/>
        </p:nvSpPr>
        <p:spPr>
          <a:xfrm>
            <a:off x="548640" y="402336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With 32 agents most sessions still fit in GPU memory, so all three configurations perform about the same: the offload tier is there for when load grows, without slowing the common case.</a:t>
            </a:r>
            <a:endParaRPr lang="en-US" sz="16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Mean time to first token shown; 128 GB DRAM tier for both caches.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result on one GPU and on four</a:t>
            </a:r>
            <a:endParaRPr lang="en-US" sz="3200" dirty="0"/>
          </a:p>
        </p:txBody>
      </p:sp>
      <p:graphicFrame>
        <p:nvGraphicFramePr>
          <p:cNvPr id="12" name="scal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965960"/>
                <a:gridCol w="2103120"/>
                <a:gridCol w="2240280"/>
                <a:gridCol w="19202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agents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alone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LMCache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LifeboatCache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LifeboatCache vs vLLM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1x RTX PRO 6000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Qwen3-30B-A3B, 32 GB DRAM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 s / 180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21.8 s / 211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 s / 323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1.8x throughput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4x RTX PRO 6000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Qwen3-235B-A22B, 128 GB DRAM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s / 94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 s / 148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 s / 219 tok/s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2.3x throughput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cale caption"/>
          <p:cNvSpPr txBox="1"/>
          <p:nvPr/>
        </p:nvSpPr>
        <p:spPr>
          <a:xfrm>
            <a:off x="548640" y="42062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Each cell: mean time to first token / output tokens per second. Same workload, settings and software versions on both systems; DRAM is 32 GB per GPU in both.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Repeated runs agree</a:t>
            </a:r>
            <a:endParaRPr lang="en-US" sz="3200" dirty="0"/>
          </a:p>
        </p:txBody>
      </p:sp>
      <p:graphicFrame>
        <p:nvGraphicFramePr>
          <p:cNvPr id="13" name="repea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3474720"/>
                <a:gridCol w="34747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agents, 128 GB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LMCache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 s  /  148 tok/s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 s  /  146 tok/s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E9F8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vLLM + LifeboatCache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 s  /  219 tok/s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 s  /  219 tok/s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Each cell: mean time to first token / output tokens per second. Each run starts a fresh server with empty caches.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C8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DRAM, less performance; more DRAM, better performance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61188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Achieved just with LifeboatCache on top of vLLM, SGLang or Lifeboat.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ifeboatCache">
  <a:themeElements>
    <a:clrScheme name="LifeboatCache">
      <a:dk1>
        <a:srgbClr val="1B2430"/>
      </a:dk1>
      <a:lt1>
        <a:srgbClr val="FFFFFF"/>
      </a:lt1>
      <a:dk2>
        <a:srgbClr val="0B2545"/>
      </a:dk2>
      <a:lt2>
        <a:srgbClr val="EEF3F7"/>
      </a:lt2>
      <a:accent1>
        <a:srgbClr val="0E9F8E"/>
      </a:accent1>
      <a:accent2>
        <a:srgbClr val="5B6C8F"/>
      </a:accent2>
      <a:accent3>
        <a:srgbClr val="A3AEBD"/>
      </a:accent3>
      <a:accent4>
        <a:srgbClr val="F2A541"/>
      </a:accent4>
      <a:accent5>
        <a:srgbClr val="13315C"/>
      </a:accent5>
      <a:accent6>
        <a:srgbClr val="8AC6BE"/>
      </a:accent6>
      <a:hlink>
        <a:srgbClr val="0E9F8E"/>
      </a:hlink>
      <a:folHlink>
        <a:srgbClr val="5B6C8F"/>
      </a:folHlink>
    </a:clrScheme>
    <a:fontScheme name="LifeboatCach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Iterate.ai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LifeboatCache on vLLM: agentic KV-cache offload on 4x RTX PRO 6000</dc:title>
  <dc:subject>PptxGenJS Presentation</dc:subject>
  <dc:creator>PptxGenJS</dc:creator>
  <cp:lastModifiedBy>PptxGenJS</cp:lastModifiedBy>
  <cp:revision>1</cp:revision>
  <dcterms:created xsi:type="dcterms:W3CDTF">2026-10-30T17:53:16Z</dcterms:created>
  <dcterms:modified xsi:type="dcterms:W3CDTF">2026-10-30T17:53:16Z</dcterms:modified>
</cp:coreProperties>
</file>