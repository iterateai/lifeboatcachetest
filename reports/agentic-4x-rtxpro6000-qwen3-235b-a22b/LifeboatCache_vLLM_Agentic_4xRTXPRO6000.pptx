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26.7</c:v>
                </c:pt>
                <c:pt idx="1">
                  <c:v>17.1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148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 at 64 agents, by host DRAM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104</c:v>
                </c:pt>
                <c:pt idx="1">
                  <c:v>148</c:v>
                </c:pt>
                <c:pt idx="2">
                  <c:v>217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219</c:v>
                </c:pt>
                <c:pt idx="1">
                  <c:v>219</c:v>
                </c:pt>
                <c:pt idx="2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 at 64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24.8</c:v>
                </c:pt>
                <c:pt idx="1">
                  <c:v>17.1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9.2</c:v>
                </c:pt>
                <c:pt idx="1">
                  <c:v>9.1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137.5</c:v>
                </c:pt>
                <c:pt idx="1">
                  <c:v>113.5</c:v>
                </c:pt>
                <c:pt idx="2">
                  <c:v>42.7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87</c:v>
                </c:pt>
                <c:pt idx="2">
                  <c:v>208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8F"/>
                </a:solidFill>
              </a:rPr>
              <a:t>LifeboatCache  |  Iterate.ai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LifeboatCache on vLLM: agentic KV-cache offload on 4x RTX PRO 6000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Qwen3-235B-A22B across four GPUs, real agent sessions, 32 to 128 concurrent agents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64 agents, LifeboatCache cuts time to first token 2.9x</a:t>
            </a:r>
            <a:endParaRPr lang="en-US" sz="3200" dirty="0"/>
          </a:p>
        </p:txBody>
      </p:sp>
      <p:sp>
        <p:nvSpPr>
          <p:cNvPr id="3" name="ttft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ttft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4800" dirty="0"/>
          </a:p>
        </p:txBody>
      </p:sp>
      <p:sp>
        <p:nvSpPr>
          <p:cNvPr id="5" name="ttft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faster time to first token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9.1 s vs 26.7 s with vLLM alone</a:t>
            </a:r>
            <a:endParaRPr lang="en-US" sz="1600" dirty="0"/>
          </a:p>
        </p:txBody>
      </p:sp>
      <p:sp>
        <p:nvSpPr>
          <p:cNvPr id="6" name="tps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ps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2.3x</a:t>
            </a:r>
            <a:endParaRPr lang="en-US" sz="4800" dirty="0"/>
          </a:p>
        </p:txBody>
      </p:sp>
      <p:sp>
        <p:nvSpPr>
          <p:cNvPr id="8" name="tps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 tokens per second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219 vs 94 tok/s with vLLM alone</a:t>
            </a:r>
            <a:endParaRPr lang="en-US" sz="1600" dirty="0"/>
          </a:p>
        </p:txBody>
      </p:sp>
      <p:sp>
        <p:nvSpPr>
          <p:cNvPr id="9" name="vs lmcache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vs lmcache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+48%</a:t>
            </a:r>
            <a:endParaRPr lang="en-US" sz="4800" dirty="0"/>
          </a:p>
        </p:txBody>
      </p:sp>
      <p:sp>
        <p:nvSpPr>
          <p:cNvPr id="11" name="vs lmcache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throughput vs 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same 128 GB of DRAM: 219 vs 148 tok/s</a:t>
            </a:r>
            <a:endParaRPr lang="en-US" sz="1600" dirty="0"/>
          </a:p>
        </p:txBody>
      </p:sp>
      <p:sp>
        <p:nvSpPr>
          <p:cNvPr id="12" name="summary text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On a 235-billion-parameter model the GPUs hold only about ten long agent sessions at once. LifeboatCache keeps the rest in host DRAM and local NVMe, so a returning agent is served from cache instead of being recomputed.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128 agents the gap widens: 208 tok/s against 70 for vLLM alone, 3.0x.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0.32 on 4x RTX PRO 6000 (tensor parallel 4), Qwen3-235B-A22B-FP8, 64 concurrent agents, 128 GB host DRAM tier (32 GB per GPU) for both caches. Mean time to first token; sustained output tokens/s.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setup</a:t>
            </a:r>
            <a:endParaRPr lang="en-US" sz="3200" dirty="0"/>
          </a:p>
        </p:txBody>
      </p:sp>
      <p:sp>
        <p:nvSpPr>
          <p:cNvPr id="3" name="Hardware card"/>
          <p:cNvSpPr/>
          <p:nvPr/>
        </p:nvSpPr>
        <p:spPr>
          <a:xfrm>
            <a:off x="54864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ardware heading"/>
          <p:cNvSpPr txBox="1"/>
          <p:nvPr/>
        </p:nvSpPr>
        <p:spPr>
          <a:xfrm>
            <a:off x="77724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2000" dirty="0"/>
          </a:p>
        </p:txBody>
      </p:sp>
      <p:sp>
        <p:nvSpPr>
          <p:cNvPr id="5" name="Hardware text"/>
          <p:cNvSpPr txBox="1"/>
          <p:nvPr/>
        </p:nvSpPr>
        <p:spPr>
          <a:xfrm>
            <a:off x="77724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4x NVIDIA RTX PRO 6000 Blackwell, 96 GB each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Intel Xeon Platinum 8559C (Emerald Rapids), 1 TB RAM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2x local NVMe for the disk tier</a:t>
            </a:r>
            <a:endParaRPr lang="en-US" sz="1500" dirty="0"/>
          </a:p>
        </p:txBody>
      </p:sp>
      <p:sp>
        <p:nvSpPr>
          <p:cNvPr id="6" name="Software card"/>
          <p:cNvSpPr/>
          <p:nvPr/>
        </p:nvSpPr>
        <p:spPr>
          <a:xfrm>
            <a:off x="338328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Software heading"/>
          <p:cNvSpPr txBox="1"/>
          <p:nvPr/>
        </p:nvSpPr>
        <p:spPr>
          <a:xfrm>
            <a:off x="361188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8" name="Software text"/>
          <p:cNvSpPr txBox="1"/>
          <p:nvPr/>
        </p:nvSpPr>
        <p:spPr>
          <a:xfrm>
            <a:off x="361188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0.32.0, Qwen3-235B-A22B-FP8, tensor parallel 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LMCache 0.5.6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LifeboatCache 0.1.23</a:t>
            </a:r>
            <a:endParaRPr lang="en-US" sz="1500" dirty="0"/>
          </a:p>
        </p:txBody>
      </p:sp>
      <p:sp>
        <p:nvSpPr>
          <p:cNvPr id="9" name="Workload card"/>
          <p:cNvSpPr/>
          <p:nvPr/>
        </p:nvSpPr>
        <p:spPr>
          <a:xfrm>
            <a:off x="621792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Workload heading"/>
          <p:cNvSpPr txBox="1"/>
          <p:nvPr/>
        </p:nvSpPr>
        <p:spPr>
          <a:xfrm>
            <a:off x="644652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</a:t>
            </a:r>
            <a:endParaRPr lang="en-US" sz="2000" dirty="0"/>
          </a:p>
        </p:txBody>
      </p:sp>
      <p:sp>
        <p:nvSpPr>
          <p:cNvPr id="11" name="Workload text"/>
          <p:cNvSpPr txBox="1"/>
          <p:nvPr/>
        </p:nvSpPr>
        <p:spPr>
          <a:xfrm>
            <a:off x="644652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Real agent sessions (SWE-bench Verified, GAIA, WildClawBench) replayed turn by turn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rounds per agent, 256 output tokens, 40,960-token context</a:t>
            </a:r>
            <a:endParaRPr lang="en-US" sz="1500" dirty="0"/>
          </a:p>
        </p:txBody>
      </p:sp>
      <p:sp>
        <p:nvSpPr>
          <p:cNvPr id="12" name="Configurations card"/>
          <p:cNvSpPr/>
          <p:nvPr/>
        </p:nvSpPr>
        <p:spPr>
          <a:xfrm>
            <a:off x="905256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Configurations heading"/>
          <p:cNvSpPr txBox="1"/>
          <p:nvPr/>
        </p:nvSpPr>
        <p:spPr>
          <a:xfrm>
            <a:off x="928116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Configurations</a:t>
            </a:r>
            <a:endParaRPr lang="en-US" sz="2000" dirty="0"/>
          </a:p>
        </p:txBody>
      </p:sp>
      <p:sp>
        <p:nvSpPr>
          <p:cNvPr id="14" name="Configurations text"/>
          <p:cNvSpPr txBox="1"/>
          <p:nvPr/>
        </p:nvSpPr>
        <p:spPr>
          <a:xfrm>
            <a:off x="928116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alone (GPU prefix cache)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LMCache (host DRAM)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LifeboatCache (host DRAM + NVMe)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DRAM tier: 64 to 512 GB per server</a:t>
            </a:r>
            <a:endParaRPr lang="en-US" sz="1500" dirty="0"/>
          </a:p>
        </p:txBody>
      </p:sp>
      <p:sp>
        <p:nvSpPr>
          <p:cNvPr id="1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cell starts a fresh server with empty caches and sends the same requests and output lengths. DRAM is the whole server's host-RAM KV tier, the same for both caches. About 1% of requests (sessions longer than the context) are rejected identically in every configuration.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agents at 128 GB DRAM: LifeboatCache leads</a:t>
            </a:r>
            <a:endParaRPr lang="en-US" sz="3200" dirty="0"/>
          </a:p>
        </p:txBody>
      </p:sp>
      <p:graphicFrame>
        <p:nvGraphicFramePr>
          <p:cNvPr id="3" name="ttft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ps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p99 time to first token: vLLM alone 71 s, + LMCache 52 s, + LifeboatCache 26 s. Share of prompt tokens served from cache: 12%, 53%, 75%.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by host DRAM size</a:t>
            </a:r>
            <a:endParaRPr lang="en-US" sz="3200" dirty="0"/>
          </a:p>
        </p:txBody>
      </p:sp>
      <p:graphicFrame>
        <p:nvGraphicFramePr>
          <p:cNvPr id="3" name="dram tps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dram ttft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alone, for reference: 94 tok/s and 26.7 s. DRAM is per server (four GPUs): 64 GB (16 GB/GPU), 128 GB (32 GB/GPU), 256 GB (64 GB/GPU). At 512 GB (over half of this server's 1 TB of RAM) vLLM 0.32 could not pin its CPU offload tier and LifeboatCache ran slower there; a fix is in progress.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 agents: 3.0x the throughput of vLLM alone</a:t>
            </a:r>
            <a:endParaRPr lang="en-US" sz="3200" dirty="0"/>
          </a:p>
        </p:txBody>
      </p:sp>
      <p:graphicFrame>
        <p:nvGraphicFramePr>
          <p:cNvPr id="3" name="u128 ttft chart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u128 tps char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128 GB of host DRAM for both caches; LifeboatCache's NVMe tier sized at 2 TB on the server's local NVMe. Share of prompt tokens served from cache: vLLM alone 1%, + LMCache 24%, + LifeboatCache 79%. With a 250 GB NVMe tier, too small for 128 agents' KV on this model, LifeboatCache gave 80.3 s / 119 tok/s.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agents: no overhead when the GPUs hold the sessions</a:t>
            </a:r>
            <a:endParaRPr lang="en-US" sz="3200" dirty="0"/>
          </a:p>
        </p:txBody>
      </p:sp>
      <p:sp>
        <p:nvSpPr>
          <p:cNvPr id="3" name="light vllm card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light vllm value"/>
          <p:cNvSpPr txBox="1"/>
          <p:nvPr/>
        </p:nvSpPr>
        <p:spPr>
          <a:xfrm>
            <a:off x="82296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 s</a:t>
            </a:r>
            <a:endParaRPr lang="en-US" sz="4800" dirty="0"/>
          </a:p>
        </p:txBody>
      </p:sp>
      <p:sp>
        <p:nvSpPr>
          <p:cNvPr id="5" name="light vllm label"/>
          <p:cNvSpPr txBox="1"/>
          <p:nvPr/>
        </p:nvSpPr>
        <p:spPr>
          <a:xfrm>
            <a:off x="82296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alone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6" name="light lmcache card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light lmcache value"/>
          <p:cNvSpPr txBox="1"/>
          <p:nvPr/>
        </p:nvSpPr>
        <p:spPr>
          <a:xfrm>
            <a:off x="461772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 s</a:t>
            </a:r>
            <a:endParaRPr lang="en-US" sz="4800" dirty="0"/>
          </a:p>
        </p:txBody>
      </p:sp>
      <p:sp>
        <p:nvSpPr>
          <p:cNvPr id="8" name="light lmcache label"/>
          <p:cNvSpPr txBox="1"/>
          <p:nvPr/>
        </p:nvSpPr>
        <p:spPr>
          <a:xfrm>
            <a:off x="461772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206 output tok/s</a:t>
            </a:r>
            <a:endParaRPr lang="en-US" sz="1600" dirty="0"/>
          </a:p>
        </p:txBody>
      </p:sp>
      <p:sp>
        <p:nvSpPr>
          <p:cNvPr id="9" name="light lbc card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light lbc value"/>
          <p:cNvSpPr txBox="1"/>
          <p:nvPr/>
        </p:nvSpPr>
        <p:spPr>
          <a:xfrm>
            <a:off x="841248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 s</a:t>
            </a:r>
            <a:endParaRPr lang="en-US" sz="4800" dirty="0"/>
          </a:p>
        </p:txBody>
      </p:sp>
      <p:sp>
        <p:nvSpPr>
          <p:cNvPr id="11" name="light lbc label"/>
          <p:cNvSpPr txBox="1"/>
          <p:nvPr/>
        </p:nvSpPr>
        <p:spPr>
          <a:xfrm>
            <a:off x="841248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LifeboatCache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12" name="light text"/>
          <p:cNvSpPr txBox="1"/>
          <p:nvPr/>
        </p:nvSpPr>
        <p:spPr>
          <a:xfrm>
            <a:off x="548640" y="4023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 32 agents most sessions still fit in GPU memory, so all three configurations perform about the same: the offload tier is there for when load grows, without slowing the common case.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Mean time to first token shown; 128 GB DRAM tier for both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result on one GPU and on four</a:t>
            </a:r>
            <a:endParaRPr lang="en-US" sz="3200" dirty="0"/>
          </a:p>
        </p:txBody>
      </p:sp>
      <p:graphicFrame>
        <p:nvGraphicFramePr>
          <p:cNvPr id="9" name="sca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965960"/>
                <a:gridCol w="2103120"/>
                <a:gridCol w="224028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LifeboatCache vs vLLM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Qwen3-30B-A3B, 32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s / 180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 s / 211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 s / 323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Qwen3-235B-A22B, 128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s / 94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/ 148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/ 219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cale caption"/>
          <p:cNvSpPr txBox="1"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Each cell: mean time to first token / output tokens per second. Same workload, settings and software versions on both systems; DRAM is 32 GB per GPU in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runs agree</a:t>
            </a:r>
            <a:endParaRPr lang="en-US" sz="3200" dirty="0"/>
          </a:p>
        </p:txBody>
      </p:sp>
      <p:graphicFrame>
        <p:nvGraphicFramePr>
          <p:cNvPr id="10" name="repea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474720"/>
                <a:gridCol w="3474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agents, 128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 /  148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 s  /  146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Each cell: mean time to first token / output tokens per second. Each run starts a fresh server with empty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DRAM, less performance; more DRAM, better performance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Achieved just with LifeboatCache on top of vLLM, SGLang or Lifeboat.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eboatCache">
  <a:themeElements>
    <a:clrScheme name="LifeboatCache">
      <a:dk1>
        <a:srgbClr val="1B2430"/>
      </a:dk1>
      <a:lt1>
        <a:srgbClr val="FFFFFF"/>
      </a:lt1>
      <a:dk2>
        <a:srgbClr val="0B2545"/>
      </a:dk2>
      <a:lt2>
        <a:srgbClr val="EEF3F7"/>
      </a:lt2>
      <a:accent1>
        <a:srgbClr val="0E9F8E"/>
      </a:accent1>
      <a:accent2>
        <a:srgbClr val="5B6C8F"/>
      </a:accent2>
      <a:accent3>
        <a:srgbClr val="A3AEBD"/>
      </a:accent3>
      <a:accent4>
        <a:srgbClr val="F2A541"/>
      </a:accent4>
      <a:accent5>
        <a:srgbClr val="13315C"/>
      </a:accent5>
      <a:accent6>
        <a:srgbClr val="8AC6BE"/>
      </a:accent6>
      <a:hlink>
        <a:srgbClr val="0E9F8E"/>
      </a:hlink>
      <a:folHlink>
        <a:srgbClr val="5B6C8F"/>
      </a:folHlink>
    </a:clrScheme>
    <a:fontScheme name="LifeboatCach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Iterate.ai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LifeboatCache on vLLM: agentic KV-cache offload on 4x RTX PRO 6000</dc:title>
  <dc:subject>PptxGenJS Presentation</dc:subject>
  <dc:creator>PptxGenJS</dc:creator>
  <cp:lastModifiedBy>PptxGenJS</cp:lastModifiedBy>
  <cp:revision>1</cp:revision>
  <dcterms:created xsi:type="dcterms:W3CDTF">2026-10-30T17:28:04Z</dcterms:created>
  <dcterms:modified xsi:type="dcterms:W3CDTF">2026-10-30T17:28:04Z</dcterms:modified>
</cp:coreProperties>
</file>