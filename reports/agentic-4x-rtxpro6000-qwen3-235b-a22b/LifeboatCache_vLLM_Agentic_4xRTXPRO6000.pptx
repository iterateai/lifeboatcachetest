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7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to first token (s)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26.7</c:v>
                </c:pt>
                <c:pt idx="1">
                  <c:v>17.1</c:v>
                </c:pt>
                <c:pt idx="2">
                  <c:v>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tokens/s,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tokens/s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94</c:v>
                </c:pt>
                <c:pt idx="1">
                  <c:v>148</c:v>
                </c:pt>
                <c:pt idx="2">
                  <c:v>219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 at 64 agents, by host DRAM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 GB</c:v>
                  </c:pt>
                  <c:pt idx="1">
                    <c:v>128 GB</c:v>
                  </c:pt>
                  <c:pt idx="2">
                    <c:v>256 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</c:v>
                </c:pt>
                <c:pt idx="1">
                  <c:v>148</c:v>
                </c:pt>
                <c:pt idx="2">
                  <c:v>217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 GB</c:v>
                  </c:pt>
                  <c:pt idx="1">
                    <c:v>128 GB</c:v>
                  </c:pt>
                  <c:pt idx="2">
                    <c:v>256 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219</c:v>
                </c:pt>
                <c:pt idx="1">
                  <c:v>219</c:v>
                </c:pt>
                <c:pt idx="2">
                  <c:v>220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 at 64 agents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 GB</c:v>
                  </c:pt>
                  <c:pt idx="1">
                    <c:v>128 GB</c:v>
                  </c:pt>
                  <c:pt idx="2">
                    <c:v>256 GB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24.8</c:v>
                </c:pt>
                <c:pt idx="1">
                  <c:v>17.1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64 GB</c:v>
                  </c:pt>
                  <c:pt idx="1">
                    <c:v>128 GB</c:v>
                  </c:pt>
                  <c:pt idx="2">
                    <c:v>256 GB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9.2</c:v>
                </c:pt>
                <c:pt idx="1">
                  <c:v>9.1</c:v>
                </c:pt>
                <c:pt idx="2">
                  <c:v>9.1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time to first token (s)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137.5</c:v>
                </c:pt>
                <c:pt idx="1">
                  <c:v>113.5</c:v>
                </c:pt>
                <c:pt idx="2">
                  <c:v>42.7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tokens/s,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tokens/s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3AEB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B6C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vLLM alone</c:v>
                  </c:pt>
                  <c:pt idx="1">
                    <c:v>+ LMCache</c:v>
                  </c:pt>
                  <c:pt idx="2">
                    <c:v>+ LifeboatCache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</c:v>
                </c:pt>
                <c:pt idx="1">
                  <c:v>87</c:v>
                </c:pt>
                <c:pt idx="2">
                  <c:v>208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GPU energy efficiency (output tokens per joule),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alone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0.071</c:v>
                </c:pt>
                <c:pt idx="1">
                  <c:v>0.053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0.113</c:v>
                </c:pt>
                <c:pt idx="1">
                  <c:v>0.065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0.171</c:v>
                </c:pt>
                <c:pt idx="1">
                  <c:v>0.159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in the last round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alone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29.5</c:v>
                </c:pt>
                <c:pt idx="1">
                  <c:v>182.9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20.2</c:v>
                </c:pt>
                <c:pt idx="1">
                  <c:v>154.2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64 agents</c:v>
                  </c:pt>
                  <c:pt idx="1">
                    <c:v>128 agents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8.9</c:v>
                </c:pt>
                <c:pt idx="1">
                  <c:v>45.4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B2430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Prompt tokens served from DRAM / NVMe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 (DRAM + NVMe)</c:v>
                </c:pt>
              </c:strCache>
            </c:strRef>
          </c:tx>
          <c:spPr>
            <a:solidFill>
              <a:srgbClr val="5B6C8F"/>
            </a:solidFill>
            <a:ln w="38100" cap="flat">
              <a:solidFill>
                <a:srgbClr val="5B6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C8F"/>
              </a:solidFill>
              <a:ln w="9525" cap="flat">
                <a:solidFill>
                  <a:srgbClr val="5B6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</c:v>
                </c:pt>
                <c:pt idx="1">
                  <c:v>57</c:v>
                </c:pt>
                <c:pt idx="2">
                  <c:v>83</c:v>
                </c:pt>
                <c:pt idx="3">
                  <c:v>86</c:v>
                </c:pt>
                <c:pt idx="4">
                  <c:v>89</c:v>
                </c:pt>
                <c:pt idx="5">
                  <c:v>91</c:v>
                </c:pt>
                <c:pt idx="6">
                  <c:v>91</c:v>
                </c:pt>
                <c:pt idx="7">
                  <c:v>89</c:v>
                </c:pt>
                <c:pt idx="8">
                  <c:v>85</c:v>
                </c:pt>
                <c:pt idx="9">
                  <c:v>81</c:v>
                </c:pt>
                <c:pt idx="10">
                  <c:v>77</c:v>
                </c:pt>
                <c:pt idx="11">
                  <c:v>74</c:v>
                </c:pt>
                <c:pt idx="12">
                  <c:v>70</c:v>
                </c:pt>
                <c:pt idx="13">
                  <c:v>65</c:v>
                </c:pt>
                <c:pt idx="14">
                  <c:v>59</c:v>
                </c:pt>
                <c:pt idx="15">
                  <c:v>55</c:v>
                </c:pt>
                <c:pt idx="16">
                  <c:v>51</c:v>
                </c:pt>
                <c:pt idx="17">
                  <c:v>47</c:v>
                </c:pt>
                <c:pt idx="18">
                  <c:v>47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ln w="38100" cap="flat">
              <a:solidFill>
                <a:srgbClr val="0E9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9F8E"/>
              </a:solidFill>
              <a:ln w="9525" cap="flat">
                <a:solidFill>
                  <a:srgbClr val="0E9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</c:v>
                </c:pt>
                <c:pt idx="1">
                  <c:v>57</c:v>
                </c:pt>
                <c:pt idx="2">
                  <c:v>81</c:v>
                </c:pt>
                <c:pt idx="3">
                  <c:v>84</c:v>
                </c:pt>
                <c:pt idx="4">
                  <c:v>87</c:v>
                </c:pt>
                <c:pt idx="5">
                  <c:v>91</c:v>
                </c:pt>
                <c:pt idx="6">
                  <c:v>92</c:v>
                </c:pt>
                <c:pt idx="7">
                  <c:v>92</c:v>
                </c:pt>
                <c:pt idx="8">
                  <c:v>92</c:v>
                </c:pt>
                <c:pt idx="9">
                  <c:v>91</c:v>
                </c:pt>
                <c:pt idx="10">
                  <c:v>91</c:v>
                </c:pt>
                <c:pt idx="11">
                  <c:v>92</c:v>
                </c:pt>
                <c:pt idx="12">
                  <c:v>91</c:v>
                </c:pt>
                <c:pt idx="13">
                  <c:v>92</c:v>
                </c:pt>
                <c:pt idx="14">
                  <c:v>93</c:v>
                </c:pt>
                <c:pt idx="15">
                  <c:v>94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Generation throughput (tok/s)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+ LMCache (DRAM + NVMe)</c:v>
                </c:pt>
              </c:strCache>
            </c:strRef>
          </c:tx>
          <c:spPr>
            <a:solidFill>
              <a:srgbClr val="5B6C8F"/>
            </a:solidFill>
            <a:ln w="38100" cap="flat">
              <a:solidFill>
                <a:srgbClr val="5B6C8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B6C8F"/>
              </a:solidFill>
              <a:ln w="9525" cap="flat">
                <a:solidFill>
                  <a:srgbClr val="5B6C8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119</c:v>
                </c:pt>
                <c:pt idx="1">
                  <c:v>258</c:v>
                </c:pt>
                <c:pt idx="2">
                  <c:v>233</c:v>
                </c:pt>
                <c:pt idx="3">
                  <c:v>240</c:v>
                </c:pt>
                <c:pt idx="4">
                  <c:v>259</c:v>
                </c:pt>
                <c:pt idx="5">
                  <c:v>259</c:v>
                </c:pt>
                <c:pt idx="6">
                  <c:v>228</c:v>
                </c:pt>
                <c:pt idx="7">
                  <c:v>171</c:v>
                </c:pt>
                <c:pt idx="8">
                  <c:v>149</c:v>
                </c:pt>
                <c:pt idx="9">
                  <c:v>137</c:v>
                </c:pt>
                <c:pt idx="10">
                  <c:v>113</c:v>
                </c:pt>
                <c:pt idx="11">
                  <c:v>110</c:v>
                </c:pt>
                <c:pt idx="12">
                  <c:v>89</c:v>
                </c:pt>
                <c:pt idx="13">
                  <c:v>61</c:v>
                </c:pt>
                <c:pt idx="14">
                  <c:v>45</c:v>
                </c:pt>
                <c:pt idx="15">
                  <c:v>54</c:v>
                </c:pt>
                <c:pt idx="16">
                  <c:v>54</c:v>
                </c:pt>
                <c:pt idx="17">
                  <c:v>45</c:v>
                </c:pt>
                <c:pt idx="18">
                  <c:v>52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vLLM + LifeboatCache</c:v>
                </c:pt>
              </c:strCache>
            </c:strRef>
          </c:tx>
          <c:spPr>
            <a:solidFill>
              <a:srgbClr val="0E9F8E"/>
            </a:solidFill>
            <a:ln w="38100" cap="flat">
              <a:solidFill>
                <a:srgbClr val="0E9F8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E9F8E"/>
              </a:solidFill>
              <a:ln w="9525" cap="flat">
                <a:solidFill>
                  <a:srgbClr val="0E9F8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Sheet1!$A$2:$A$20</c:f>
              <c:multiLvlStrCache>
                <c:ptCount val="19"/>
                <c:lvl>
                  <c:pt idx="0">
                    <c:v>0</c:v>
                  </c:pt>
                  <c:pt idx="1">
                    <c:v>5</c:v>
                  </c:pt>
                  <c:pt idx="2">
                    <c:v>10</c:v>
                  </c:pt>
                  <c:pt idx="3">
                    <c:v>15</c:v>
                  </c:pt>
                  <c:pt idx="4">
                    <c:v>20</c:v>
                  </c:pt>
                  <c:pt idx="5">
                    <c:v>25</c:v>
                  </c:pt>
                  <c:pt idx="6">
                    <c:v>30</c:v>
                  </c:pt>
                  <c:pt idx="7">
                    <c:v>35</c:v>
                  </c:pt>
                  <c:pt idx="8">
                    <c:v>40</c:v>
                  </c:pt>
                  <c:pt idx="9">
                    <c:v>45</c:v>
                  </c:pt>
                  <c:pt idx="10">
                    <c:v>50</c:v>
                  </c:pt>
                  <c:pt idx="11">
                    <c:v>55</c:v>
                  </c:pt>
                  <c:pt idx="12">
                    <c:v>60</c:v>
                  </c:pt>
                  <c:pt idx="13">
                    <c:v>65</c:v>
                  </c:pt>
                  <c:pt idx="14">
                    <c:v>70</c:v>
                  </c:pt>
                  <c:pt idx="15">
                    <c:v>75</c:v>
                  </c:pt>
                  <c:pt idx="16">
                    <c:v>80</c:v>
                  </c:pt>
                  <c:pt idx="17">
                    <c:v>85</c:v>
                  </c:pt>
                  <c:pt idx="18">
                    <c:v>90</c:v>
                  </c:pt>
                </c:lvl>
              </c:multiLvlStrCache>
            </c:multiLvlStrRef>
          </c:cat>
          <c:val>
            <c:numRef>
              <c:f>Sheet1!$C$2:$C$20</c:f>
              <c:numCache>
                <c:formatCode>General</c:formatCode>
                <c:ptCount val="19"/>
                <c:pt idx="0">
                  <c:v>122</c:v>
                </c:pt>
                <c:pt idx="1">
                  <c:v>258</c:v>
                </c:pt>
                <c:pt idx="2">
                  <c:v>227</c:v>
                </c:pt>
                <c:pt idx="3">
                  <c:v>231</c:v>
                </c:pt>
                <c:pt idx="4">
                  <c:v>251</c:v>
                </c:pt>
                <c:pt idx="5">
                  <c:v>273</c:v>
                </c:pt>
                <c:pt idx="6">
                  <c:v>256</c:v>
                </c:pt>
                <c:pt idx="7">
                  <c:v>232</c:v>
                </c:pt>
                <c:pt idx="8">
                  <c:v>208</c:v>
                </c:pt>
                <c:pt idx="9">
                  <c:v>221</c:v>
                </c:pt>
                <c:pt idx="10">
                  <c:v>226</c:v>
                </c:pt>
                <c:pt idx="11">
                  <c:v>188</c:v>
                </c:pt>
                <c:pt idx="12">
                  <c:v>217</c:v>
                </c:pt>
                <c:pt idx="13">
                  <c:v>234</c:v>
                </c:pt>
                <c:pt idx="14">
                  <c:v>198</c:v>
                </c:pt>
                <c:pt idx="15">
                  <c:v>200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tokens/s, 256 agents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Output tok/s</c:v>
                </c:pt>
              </c:strCache>
            </c:strRef>
          </c:tx>
          <c:spPr>
            <a:solidFill>
              <a:srgbClr val="8AC6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C6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64 GB DRAM</c:v>
                  </c:pt>
                  <c:pt idx="1">
                    <c:v>256 GB DRAM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199</c:v>
                </c:pt>
                <c:pt idx="1">
                  <c:v>223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TTFT (s)</c:v>
                </c:pt>
              </c:strCache>
            </c:strRef>
          </c:tx>
          <c:spPr>
            <a:solidFill>
              <a:srgbClr val="8AC6B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AC6B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9F8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64 GB DRAM</c:v>
                  </c:pt>
                  <c:pt idx="1">
                    <c:v>256 GB DRAM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178</c:v>
                </c:pt>
                <c:pt idx="1">
                  <c:v>158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Mean time to first token (s), lower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alone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70.7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</c:v>
                </c:pt>
                <c:pt idx="1">
                  <c:v>68.7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0.4</c:v>
                </c:pt>
                <c:pt idx="1">
                  <c:v>54.4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B243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B2430"/>
                </a:solidFill>
                <a:latin typeface="+mn-lt"/>
              </a:rPr>
              <a:t>Output tokens per joule (GPU), higher is better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vLLM alone</c:v>
                </c:pt>
              </c:strCache>
            </c:strRef>
          </c:tx>
          <c:spPr>
            <a:solidFill>
              <a:srgbClr val="A3AEB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1.9</c:v>
                </c:pt>
                <c:pt idx="1">
                  <c:v>0.57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 LMCache</c:v>
                </c:pt>
              </c:strCache>
            </c:strRef>
          </c:tx>
          <c:spPr>
            <a:solidFill>
              <a:srgbClr val="5B6C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1.95</c:v>
                </c:pt>
                <c:pt idx="1">
                  <c:v>0.58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+ LifeboatCache</c:v>
                </c:pt>
              </c:strCache>
            </c:strRef>
          </c:tx>
          <c:spPr>
            <a:solidFill>
              <a:srgbClr val="0E9F8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128 agents</c:v>
                  </c:pt>
                  <c:pt idx="1">
                    <c:v>256 agents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2.55</c:v>
                </c:pt>
                <c:pt idx="1">
                  <c:v>0.74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4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9525" cap="flat">
              <a:solidFill>
                <a:srgbClr val="D9E0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C8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C8F"/>
                </a:solidFill>
              </a:rPr>
              <a:t>LifeboatCache  |  Iterate.ai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3.xml"/><Relationship Id="rId2" Type="http://schemas.openxmlformats.org/officeDocument/2006/relationships/chart" Target="/ppt/charts/chart14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LifeboatCache on vLLM: agentic KV-cache offload on 4x RTX PRO 6000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Qwen3-235B-A22B across four GPUs, real agent sessions, 32 to 128 concurrent agents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64 agents, LifeboatCache cuts time to first token 2.9x</a:t>
            </a:r>
            <a:endParaRPr lang="en-US" sz="3200" dirty="0"/>
          </a:p>
        </p:txBody>
      </p:sp>
      <p:sp>
        <p:nvSpPr>
          <p:cNvPr id="3" name="ttft card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tft value"/>
          <p:cNvSpPr txBox="1"/>
          <p:nvPr/>
        </p:nvSpPr>
        <p:spPr>
          <a:xfrm>
            <a:off x="82296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2.9x</a:t>
            </a:r>
            <a:endParaRPr lang="en-US" sz="4800" dirty="0"/>
          </a:p>
        </p:txBody>
      </p:sp>
      <p:sp>
        <p:nvSpPr>
          <p:cNvPr id="5" name="ttft label"/>
          <p:cNvSpPr txBox="1"/>
          <p:nvPr/>
        </p:nvSpPr>
        <p:spPr>
          <a:xfrm>
            <a:off x="82296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faster time to first token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9.1 s vs 26.7 s with vLLM alone</a:t>
            </a:r>
            <a:endParaRPr lang="en-US" sz="1600" dirty="0"/>
          </a:p>
        </p:txBody>
      </p:sp>
      <p:sp>
        <p:nvSpPr>
          <p:cNvPr id="6" name="tps card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ps value"/>
          <p:cNvSpPr txBox="1"/>
          <p:nvPr/>
        </p:nvSpPr>
        <p:spPr>
          <a:xfrm>
            <a:off x="461772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2.3x</a:t>
            </a:r>
            <a:endParaRPr lang="en-US" sz="4800" dirty="0"/>
          </a:p>
        </p:txBody>
      </p:sp>
      <p:sp>
        <p:nvSpPr>
          <p:cNvPr id="8" name="tps label"/>
          <p:cNvSpPr txBox="1"/>
          <p:nvPr/>
        </p:nvSpPr>
        <p:spPr>
          <a:xfrm>
            <a:off x="461772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output tokens per second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219 vs 94 tok/s with vLLM alone</a:t>
            </a:r>
            <a:endParaRPr lang="en-US" sz="1600" dirty="0"/>
          </a:p>
        </p:txBody>
      </p:sp>
      <p:sp>
        <p:nvSpPr>
          <p:cNvPr id="9" name="vs lmcache card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vs lmcache value"/>
          <p:cNvSpPr txBox="1"/>
          <p:nvPr/>
        </p:nvSpPr>
        <p:spPr>
          <a:xfrm>
            <a:off x="841248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+48%</a:t>
            </a:r>
            <a:endParaRPr lang="en-US" sz="4800" dirty="0"/>
          </a:p>
        </p:txBody>
      </p:sp>
      <p:sp>
        <p:nvSpPr>
          <p:cNvPr id="11" name="vs lmcache label"/>
          <p:cNvSpPr txBox="1"/>
          <p:nvPr/>
        </p:nvSpPr>
        <p:spPr>
          <a:xfrm>
            <a:off x="841248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throughput vs vLLM + LMCache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same 128 GB of DRAM: 219 vs 148 tok/s</a:t>
            </a:r>
            <a:endParaRPr lang="en-US" sz="1600" dirty="0"/>
          </a:p>
        </p:txBody>
      </p:sp>
      <p:sp>
        <p:nvSpPr>
          <p:cNvPr id="12" name="summary text"/>
          <p:cNvSpPr txBox="1"/>
          <p:nvPr/>
        </p:nvSpPr>
        <p:spPr>
          <a:xfrm>
            <a:off x="548640" y="384048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On a 235-billion-parameter model the GPUs hold only about ten long agent sessions at once. LifeboatCache keeps the rest in host DRAM and local NVMe, so a returning agent is served from cache instead of being recomputed.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At 128 agents the gap widens: 208 tok/s against 70 for vLLM alone, 3.0x.</a:t>
            </a:r>
            <a:endParaRPr lang="en-US" sz="16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vLLM 0.32 on 4x RTX PRO 6000 (tensor parallel 4), Qwen3-235B-A22B-FP8, 64 concurrent agents, 128 GB host DRAM tier (32 GB per GPU) for both caches. Mean time to first token; sustained output tokens/s.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setup</a:t>
            </a:r>
            <a:endParaRPr lang="en-US" sz="3200" dirty="0"/>
          </a:p>
        </p:txBody>
      </p:sp>
      <p:sp>
        <p:nvSpPr>
          <p:cNvPr id="3" name="Hardware card"/>
          <p:cNvSpPr/>
          <p:nvPr/>
        </p:nvSpPr>
        <p:spPr>
          <a:xfrm>
            <a:off x="548640" y="14630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Hardware heading"/>
          <p:cNvSpPr txBox="1"/>
          <p:nvPr/>
        </p:nvSpPr>
        <p:spPr>
          <a:xfrm>
            <a:off x="77724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000" dirty="0"/>
          </a:p>
        </p:txBody>
      </p:sp>
      <p:sp>
        <p:nvSpPr>
          <p:cNvPr id="5" name="Hardware text"/>
          <p:cNvSpPr txBox="1"/>
          <p:nvPr/>
        </p:nvSpPr>
        <p:spPr>
          <a:xfrm>
            <a:off x="777240" y="224028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4x NVIDIA RTX PRO 6000 Blackwell, 96 GB each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Intel Xeon Platinum 8559C (Emerald Rapids), 1 TB RAM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2x local NVMe for the disk tier</a:t>
            </a:r>
            <a:endParaRPr lang="en-US" sz="1500" dirty="0"/>
          </a:p>
        </p:txBody>
      </p:sp>
      <p:sp>
        <p:nvSpPr>
          <p:cNvPr id="6" name="Software card"/>
          <p:cNvSpPr/>
          <p:nvPr/>
        </p:nvSpPr>
        <p:spPr>
          <a:xfrm>
            <a:off x="3383280" y="14630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Software heading"/>
          <p:cNvSpPr txBox="1"/>
          <p:nvPr/>
        </p:nvSpPr>
        <p:spPr>
          <a:xfrm>
            <a:off x="361188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2000" dirty="0"/>
          </a:p>
        </p:txBody>
      </p:sp>
      <p:sp>
        <p:nvSpPr>
          <p:cNvPr id="8" name="Software text"/>
          <p:cNvSpPr txBox="1"/>
          <p:nvPr/>
        </p:nvSpPr>
        <p:spPr>
          <a:xfrm>
            <a:off x="3611880" y="224028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0.32.0, Qwen3-235B-A22B-FP8, tensor parallel 4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LMCache 0.5.6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LifeboatCache 0.1.23</a:t>
            </a:r>
            <a:endParaRPr lang="en-US" sz="1500" dirty="0"/>
          </a:p>
        </p:txBody>
      </p:sp>
      <p:sp>
        <p:nvSpPr>
          <p:cNvPr id="9" name="Workload card"/>
          <p:cNvSpPr/>
          <p:nvPr/>
        </p:nvSpPr>
        <p:spPr>
          <a:xfrm>
            <a:off x="6217920" y="14630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Workload heading"/>
          <p:cNvSpPr txBox="1"/>
          <p:nvPr/>
        </p:nvSpPr>
        <p:spPr>
          <a:xfrm>
            <a:off x="644652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Workload</a:t>
            </a:r>
            <a:endParaRPr lang="en-US" sz="2000" dirty="0"/>
          </a:p>
        </p:txBody>
      </p:sp>
      <p:sp>
        <p:nvSpPr>
          <p:cNvPr id="11" name="Workload text"/>
          <p:cNvSpPr txBox="1"/>
          <p:nvPr/>
        </p:nvSpPr>
        <p:spPr>
          <a:xfrm>
            <a:off x="6446520" y="224028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Real agent sessions (SWE-bench Verified, GAIA, WildClawBench) replayed turn by turn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10 rounds per agent, 256 output tokens, 40,960-token context</a:t>
            </a:r>
            <a:endParaRPr lang="en-US" sz="1500" dirty="0"/>
          </a:p>
        </p:txBody>
      </p:sp>
      <p:sp>
        <p:nvSpPr>
          <p:cNvPr id="12" name="Configurations card"/>
          <p:cNvSpPr/>
          <p:nvPr/>
        </p:nvSpPr>
        <p:spPr>
          <a:xfrm>
            <a:off x="9052560" y="146304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Configurations heading"/>
          <p:cNvSpPr txBox="1"/>
          <p:nvPr/>
        </p:nvSpPr>
        <p:spPr>
          <a:xfrm>
            <a:off x="9281160" y="16916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Configurations</a:t>
            </a:r>
            <a:endParaRPr lang="en-US" sz="2000" dirty="0"/>
          </a:p>
        </p:txBody>
      </p:sp>
      <p:sp>
        <p:nvSpPr>
          <p:cNvPr id="14" name="Configurations text"/>
          <p:cNvSpPr txBox="1"/>
          <p:nvPr/>
        </p:nvSpPr>
        <p:spPr>
          <a:xfrm>
            <a:off x="9281160" y="224028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alone (GPU prefix cache)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+ LMCache (host DRAM)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vLLM + LifeboatCache (host DRAM + NVMe)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DRAM tier: 64 to 512 GB per server</a:t>
            </a:r>
            <a:endParaRPr lang="en-US" sz="1500" dirty="0"/>
          </a:p>
        </p:txBody>
      </p:sp>
      <p:sp>
        <p:nvSpPr>
          <p:cNvPr id="1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Every cell starts a fresh server with empty caches and sends the same requests and output lengths. DRAM is the whole server's host-RAM KV tier, the same for both caches. About 1% of requests (sessions longer than the context) are rejected identically in every configuration.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 agents at 128 GB DRAM: LifeboatCache leads</a:t>
            </a:r>
            <a:endParaRPr lang="en-US" sz="3200" dirty="0"/>
          </a:p>
        </p:txBody>
      </p:sp>
      <p:graphicFrame>
        <p:nvGraphicFramePr>
          <p:cNvPr id="3" name="ttft chart" descr=""/>
          <p:cNvGraphicFramePr/>
          <p:nvPr/>
        </p:nvGraphicFramePr>
        <p:xfrm>
          <a:off x="54864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ps chart" descr=""/>
          <p:cNvGraphicFramePr/>
          <p:nvPr/>
        </p:nvGraphicFramePr>
        <p:xfrm>
          <a:off x="621792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p99 time to first token: vLLM alone 71 s, + LMCache 52 s, + LifeboatCache 26 s. Share of prompt tokens served from cache: 12%, 53%, 75%.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by host DRAM size</a:t>
            </a:r>
            <a:endParaRPr lang="en-US" sz="3200" dirty="0"/>
          </a:p>
        </p:txBody>
      </p:sp>
      <p:graphicFrame>
        <p:nvGraphicFramePr>
          <p:cNvPr id="3" name="dram tps chart" descr=""/>
          <p:cNvGraphicFramePr/>
          <p:nvPr/>
        </p:nvGraphicFramePr>
        <p:xfrm>
          <a:off x="54864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dram ttft chart" descr=""/>
          <p:cNvGraphicFramePr/>
          <p:nvPr/>
        </p:nvGraphicFramePr>
        <p:xfrm>
          <a:off x="6217920" y="1371600"/>
          <a:ext cx="539496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vLLM alone, for reference: 94 tok/s and 26.7 s. DRAM is per server (four GPUs): 64 GB (16 GB/GPU), 128 GB (32 GB/GPU), 256 GB (64 GB/GPU). At 512 GB (over half of this server's 1 TB of RAM) vLLM 0.32 could not pin its CPU offload tier and LifeboatCache ran slower there; a fix is in progress.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128 agents: 3.0x the throughput of vLLM alone</a:t>
            </a:r>
            <a:endParaRPr lang="en-US" sz="3200" dirty="0"/>
          </a:p>
        </p:txBody>
      </p:sp>
      <p:graphicFrame>
        <p:nvGraphicFramePr>
          <p:cNvPr id="3" name="u128 ttft chart" descr=""/>
          <p:cNvGraphicFramePr/>
          <p:nvPr/>
        </p:nvGraphicFramePr>
        <p:xfrm>
          <a:off x="548640" y="13716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u128 tps chart" descr=""/>
          <p:cNvGraphicFramePr/>
          <p:nvPr/>
        </p:nvGraphicFramePr>
        <p:xfrm>
          <a:off x="6217920" y="13716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128 GB of host DRAM for both caches; LifeboatCache's NVMe tier sized at 2 TB on the server's local NVMe. Share of prompt tokens served from cache: vLLM alone 1%, + LMCache 24%, + LifeboatCache 79%. With a 250 GB NVMe tier, too small for 128 agents' KV on this model, LifeboatCache gave 80.3 s / 119 tok/s.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 to 3.0x more output tokens per joule</a:t>
            </a:r>
            <a:endParaRPr lang="en-US" sz="3200" dirty="0"/>
          </a:p>
        </p:txBody>
      </p:sp>
      <p:graphicFrame>
        <p:nvGraphicFramePr>
          <p:cNvPr id="3" name="energy chart" descr=""/>
          <p:cNvGraphicFramePr/>
          <p:nvPr/>
        </p:nvGraphicFramePr>
        <p:xfrm>
          <a:off x="548640" y="13716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nergy text"/>
          <p:cNvSpPr txBox="1"/>
          <p:nvPr/>
        </p:nvSpPr>
        <p:spPr>
          <a:xfrm>
            <a:off x="7589520" y="16459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Recomputing evicted context burns GPU energy without producing tokens.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64 agents: 2.4x vLLM alone, 1.5x LMCache. 128 agents: 3.0x vLLM alone, 2.4x LMCache.</a:t>
            </a:r>
            <a:endParaRPr lang="en-US" sz="1600" dirty="0"/>
          </a:p>
        </p:txBody>
      </p:sp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GPU energy from nvidia-smi over each run (CPU package energy was not readable on this cloud server). 128 GB host DRAM for both caches; LifeboatCache at 128 agents with its 2 TB NVMe tier.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stays low as agent sessions grow</a:t>
            </a:r>
            <a:endParaRPr lang="en-US" sz="3200" dirty="0"/>
          </a:p>
        </p:txBody>
      </p:sp>
      <p:graphicFrame>
        <p:nvGraphicFramePr>
          <p:cNvPr id="3" name="last round chart" descr=""/>
          <p:cNvGraphicFramePr/>
          <p:nvPr/>
        </p:nvGraphicFramePr>
        <p:xfrm>
          <a:off x="548640" y="1371600"/>
          <a:ext cx="67665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round text"/>
          <p:cNvSpPr txBox="1"/>
          <p:nvPr/>
        </p:nvSpPr>
        <p:spPr>
          <a:xfrm>
            <a:off x="7589520" y="164592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64 agents, round 1 → round 10: vLLM alone 2.1 → 29.5 s; LMCache 2.0 → 20.2 s; LifeboatCache 2.1 → 8.9 s.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128 agents, round 1 → round 10: vLLM alone 10.7 → 182.9 s; LMCache 10.8 → 154.2 s; LifeboatCache 10.8 → 45.4 s.</a:t>
            </a:r>
            <a:endParaRPr lang="en-US" sz="1500" dirty="0"/>
          </a:p>
        </p:txBody>
      </p:sp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Every agent starts at round 1 at the same time, so round 1 is equal across configurations; each later round re-sends a longer conversation. Without offload, evicted context is recomputed every round.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agents within a latency target, work done sooner</a:t>
            </a:r>
            <a:endParaRPr lang="en-US" sz="3200" dirty="0"/>
          </a:p>
        </p:txBody>
      </p:sp>
      <p:graphicFrame>
        <p:nvGraphicFramePr>
          <p:cNvPr id="10" name="sl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468880"/>
                <a:gridCol w="2560320"/>
                <a:gridCol w="2651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p99 time to first token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30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60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within 300 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wall-clock, 640 requests (64 agents)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wall-clock, 1280 requests (128 agents)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34.8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28.3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11.8 min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Most agents among those tested (32, 64, 128) whose p99 time to first token met the target. Wall-clock: time to finish the same requests. 128 GB host DRAM; LifeboatCache at 128 agents with its 2 TB NVMe tier.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 agent sessions at 256 and 512 agents</a:t>
            </a:r>
            <a:endParaRPr lang="en-US" sz="3200" dirty="0"/>
          </a:p>
        </p:txBody>
      </p:sp>
      <p:sp>
        <p:nvSpPr>
          <p:cNvPr id="3" name="h256 card"/>
          <p:cNvSpPr/>
          <p:nvPr/>
        </p:nvSpPr>
        <p:spPr>
          <a:xfrm>
            <a:off x="54864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h256 value"/>
          <p:cNvSpPr txBox="1"/>
          <p:nvPr/>
        </p:nvSpPr>
        <p:spPr>
          <a:xfrm>
            <a:off x="82296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223 tok/s</a:t>
            </a:r>
            <a:endParaRPr lang="en-US" sz="4800" dirty="0"/>
          </a:p>
        </p:txBody>
      </p:sp>
      <p:sp>
        <p:nvSpPr>
          <p:cNvPr id="5" name="h256 label"/>
          <p:cNvSpPr txBox="1"/>
          <p:nvPr/>
        </p:nvSpPr>
        <p:spPr>
          <a:xfrm>
            <a:off x="82296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256 agents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158 s mean TTFT, 89% from cache</a:t>
            </a:r>
            <a:endParaRPr lang="en-US" sz="1600" dirty="0"/>
          </a:p>
        </p:txBody>
      </p:sp>
      <p:sp>
        <p:nvSpPr>
          <p:cNvPr id="6" name="h512 card"/>
          <p:cNvSpPr/>
          <p:nvPr/>
        </p:nvSpPr>
        <p:spPr>
          <a:xfrm>
            <a:off x="434340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h512 value"/>
          <p:cNvSpPr txBox="1"/>
          <p:nvPr/>
        </p:nvSpPr>
        <p:spPr>
          <a:xfrm>
            <a:off x="461772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tok/s</a:t>
            </a:r>
            <a:endParaRPr lang="en-US" sz="4800" dirty="0"/>
          </a:p>
        </p:txBody>
      </p:sp>
      <p:sp>
        <p:nvSpPr>
          <p:cNvPr id="8" name="h512 label"/>
          <p:cNvSpPr txBox="1"/>
          <p:nvPr/>
        </p:nvSpPr>
        <p:spPr>
          <a:xfrm>
            <a:off x="461772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512 agents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598 s mean TTFT, 90% from cache</a:t>
            </a:r>
            <a:endParaRPr lang="en-US" sz="1600" dirty="0"/>
          </a:p>
        </p:txBody>
      </p:sp>
      <p:sp>
        <p:nvSpPr>
          <p:cNvPr id="9" name="ok card"/>
          <p:cNvSpPr/>
          <p:nvPr/>
        </p:nvSpPr>
        <p:spPr>
          <a:xfrm>
            <a:off x="8138160" y="146304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ok value"/>
          <p:cNvSpPr txBox="1"/>
          <p:nvPr/>
        </p:nvSpPr>
        <p:spPr>
          <a:xfrm>
            <a:off x="8412480" y="16916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4800" dirty="0"/>
          </a:p>
        </p:txBody>
      </p:sp>
      <p:sp>
        <p:nvSpPr>
          <p:cNvPr id="11" name="ok label"/>
          <p:cNvSpPr txBox="1"/>
          <p:nvPr/>
        </p:nvSpPr>
        <p:spPr>
          <a:xfrm>
            <a:off x="8412480" y="260604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requests completed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12,789 of 12,800 at 512 agents; the rest exceeded the context</a:t>
            </a:r>
            <a:endParaRPr lang="en-US" sz="1600" dirty="0"/>
          </a:p>
        </p:txBody>
      </p:sp>
      <p:sp>
        <p:nvSpPr>
          <p:cNvPr id="12" name="heavy text"/>
          <p:cNvSpPr txBox="1"/>
          <p:nvPr/>
        </p:nvSpPr>
        <p:spPr>
          <a:xfrm>
            <a:off x="548640" y="393192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25 rounds per agent session and up to 512 output tokens per round, the setting used in industry agentic offload studies: sessions grow to tens of thousands of tokens, far beyond what four GPUs hold. LifeboatCache served about 90% of every prompt from its DRAM and NVMe tiers at both loads.</a:t>
            </a:r>
            <a:endParaRPr lang="en-US" sz="15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Qwen3-235B-A22B-FP8 on 4x RTX PRO 6000, vLLM 0.32, LifeboatCache 0.1.23 with 256 GB host DRAM and a 3 TB NVMe tier; 40,192-token context. Mean time to first token includes queueing: 256 to 512 agents share four GPUs.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sustained load, LifeboatCache keeps its cache hits</a:t>
            </a:r>
            <a:endParaRPr lang="en-US" sz="3200" dirty="0"/>
          </a:p>
        </p:txBody>
      </p:sp>
      <p:graphicFrame>
        <p:nvGraphicFramePr>
          <p:cNvPr id="3" name="timeline 2" descr=""/>
          <p:cNvGraphicFramePr/>
          <p:nvPr/>
        </p:nvGraphicFramePr>
        <p:xfrm>
          <a:off x="548640" y="132588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timeline 1" descr=""/>
          <p:cNvGraphicFramePr/>
          <p:nvPr/>
        </p:nvGraphicFramePr>
        <p:xfrm>
          <a:off x="6217920" y="132588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256 agents, same server and settings. LMCache 0.5.6 with 512 GB DRAM + NVMe evicted entries from its DRAM tier while they were being loaded (1,761 missing-key events in 90 minutes); its share of cached prompt tokens fell from 91% to 47% and the run did not complete. LifeboatCache stayed at 91–94% to the end.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DRAM, more throughput: +12% from 64 to 256 GB</a:t>
            </a:r>
            <a:endParaRPr lang="en-US" sz="3200" dirty="0"/>
          </a:p>
        </p:txBody>
      </p:sp>
      <p:graphicFrame>
        <p:nvGraphicFramePr>
          <p:cNvPr id="3" name="heavy dram tps" descr=""/>
          <p:cNvGraphicFramePr/>
          <p:nvPr/>
        </p:nvGraphicFramePr>
        <p:xfrm>
          <a:off x="548640" y="13716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heavy dram ttft" descr=""/>
          <p:cNvGraphicFramePr/>
          <p:nvPr/>
        </p:nvGraphicFramePr>
        <p:xfrm>
          <a:off x="6217920" y="1371600"/>
          <a:ext cx="53949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LifeboatCache with its NVMe tier in both runs; DRAM is the host-RAM tier for the whole server. Share of prompt tokens from cache 85% at 64 GB, 89% at 256 GB.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gpt-oss-20b on one GPU: 23% lower TTFT at 256 agents</a:t>
            </a:r>
            <a:endParaRPr lang="en-US" sz="3200" dirty="0"/>
          </a:p>
        </p:txBody>
      </p:sp>
      <p:graphicFrame>
        <p:nvGraphicFramePr>
          <p:cNvPr id="3" name="oss ttft" descr=""/>
          <p:cNvGraphicFramePr/>
          <p:nvPr/>
        </p:nvGraphicFramePr>
        <p:xfrm>
          <a:off x="54864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oss tpj" descr=""/>
          <p:cNvGraphicFramePr/>
          <p:nvPr/>
        </p:nvGraphicFramePr>
        <p:xfrm>
          <a:off x="6217920" y="1371600"/>
          <a:ext cx="53949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footnote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One RTX PRO 6000, gpt-oss-20b (MXFP4), 128,000-token context, 25 rounds per agent, up to 512 output tokens per round; 24 GB host DRAM for both caches. Throughput and cached share (vLLM alone / + LMCache / + LifeboatCache): 128 agents 1117 / 1144 / 1425 tok/s, cached 80% / 82% / 89%; 256 agents 342 / 349 / 349 tok/s, cached 7% / 9% / 40%.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agents: no overhead when the GPUs hold the sessions</a:t>
            </a:r>
            <a:endParaRPr lang="en-US" sz="3200" dirty="0"/>
          </a:p>
        </p:txBody>
      </p:sp>
      <p:sp>
        <p:nvSpPr>
          <p:cNvPr id="3" name="light vllm card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light vllm value"/>
          <p:cNvSpPr txBox="1"/>
          <p:nvPr/>
        </p:nvSpPr>
        <p:spPr>
          <a:xfrm>
            <a:off x="82296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0.90 s</a:t>
            </a:r>
            <a:endParaRPr lang="en-US" sz="4800" dirty="0"/>
          </a:p>
        </p:txBody>
      </p:sp>
      <p:sp>
        <p:nvSpPr>
          <p:cNvPr id="5" name="light vllm label"/>
          <p:cNvSpPr txBox="1"/>
          <p:nvPr/>
        </p:nvSpPr>
        <p:spPr>
          <a:xfrm>
            <a:off x="82296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alone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204 output tok/s</a:t>
            </a:r>
            <a:endParaRPr lang="en-US" sz="1600" dirty="0"/>
          </a:p>
        </p:txBody>
      </p:sp>
      <p:sp>
        <p:nvSpPr>
          <p:cNvPr id="6" name="light lmcache card"/>
          <p:cNvSpPr/>
          <p:nvPr/>
        </p:nvSpPr>
        <p:spPr>
          <a:xfrm>
            <a:off x="434340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light lmcache value"/>
          <p:cNvSpPr txBox="1"/>
          <p:nvPr/>
        </p:nvSpPr>
        <p:spPr>
          <a:xfrm>
            <a:off x="461772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1.10 s</a:t>
            </a:r>
            <a:endParaRPr lang="en-US" sz="4800" dirty="0"/>
          </a:p>
        </p:txBody>
      </p:sp>
      <p:sp>
        <p:nvSpPr>
          <p:cNvPr id="8" name="light lmcache label"/>
          <p:cNvSpPr txBox="1"/>
          <p:nvPr/>
        </p:nvSpPr>
        <p:spPr>
          <a:xfrm>
            <a:off x="461772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+ LMCache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206 output tok/s</a:t>
            </a:r>
            <a:endParaRPr lang="en-US" sz="1600" dirty="0"/>
          </a:p>
        </p:txBody>
      </p:sp>
      <p:sp>
        <p:nvSpPr>
          <p:cNvPr id="9" name="light lbc card"/>
          <p:cNvSpPr/>
          <p:nvPr/>
        </p:nvSpPr>
        <p:spPr>
          <a:xfrm>
            <a:off x="813816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light lbc value"/>
          <p:cNvSpPr txBox="1"/>
          <p:nvPr/>
        </p:nvSpPr>
        <p:spPr>
          <a:xfrm>
            <a:off x="8412480" y="17830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 s</a:t>
            </a:r>
            <a:endParaRPr lang="en-US" sz="4800" dirty="0"/>
          </a:p>
        </p:txBody>
      </p:sp>
      <p:sp>
        <p:nvSpPr>
          <p:cNvPr id="11" name="light lbc label"/>
          <p:cNvSpPr txBox="1"/>
          <p:nvPr/>
        </p:nvSpPr>
        <p:spPr>
          <a:xfrm>
            <a:off x="8412480" y="269748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vLLM + LifeboatCache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204 output tok/s</a:t>
            </a:r>
            <a:endParaRPr lang="en-US" sz="1600" dirty="0"/>
          </a:p>
        </p:txBody>
      </p:sp>
      <p:sp>
        <p:nvSpPr>
          <p:cNvPr id="12" name="light text"/>
          <p:cNvSpPr txBox="1"/>
          <p:nvPr/>
        </p:nvSpPr>
        <p:spPr>
          <a:xfrm>
            <a:off x="548640" y="402336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With 32 agents most sessions still fit in GPU memory, so all three configurations perform about the same: the offload tier is there for when load grows, without slowing the common case.</a:t>
            </a:r>
            <a:endParaRPr lang="en-US" sz="1600" dirty="0"/>
          </a:p>
        </p:txBody>
      </p:sp>
      <p:sp>
        <p:nvSpPr>
          <p:cNvPr id="13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Mean time to first token shown; 128 GB DRAM tier for both caches.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result on one GPU and on four</a:t>
            </a:r>
            <a:endParaRPr lang="en-US" sz="3200" dirty="0"/>
          </a:p>
        </p:txBody>
      </p:sp>
      <p:graphicFrame>
        <p:nvGraphicFramePr>
          <p:cNvPr id="16" name="sca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1965960"/>
                <a:gridCol w="2103120"/>
                <a:gridCol w="224028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agents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alone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LifeboatCache vs vLLM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1x RTX PRO 6000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Qwen3-30B-A3B, 32 GB DRAM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25.4 s / 180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21.8 s / 211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 s / 323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1.8x throughput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4x RTX PRO 6000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Qwen3-235B-A22B, 128 GB DRAM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26.7 s / 94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 s / 148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 s / 219 tok/s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2.3x throughput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ale caption"/>
          <p:cNvSpPr txBox="1"/>
          <p:nvPr/>
        </p:nvSpPr>
        <p:spPr>
          <a:xfrm>
            <a:off x="548640" y="42062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Each cell: mean time to first token / output tokens per second. Same workload, settings and software versions on both systems; DRAM is 32 GB per GPU in both.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runs agree</a:t>
            </a:r>
            <a:endParaRPr lang="en-US" sz="3200" dirty="0"/>
          </a:p>
        </p:txBody>
      </p:sp>
      <p:graphicFrame>
        <p:nvGraphicFramePr>
          <p:cNvPr id="17" name="repea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347472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agents, 128 GB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LMCache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 s  /  148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17.0 s  /  146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E9F8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vLLM + LifeboatCache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9.1 s  /  219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 s  /  219 tok/s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0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footnote"/>
          <p:cNvSpPr txBox="1"/>
          <p:nvPr/>
        </p:nvSpPr>
        <p:spPr>
          <a:xfrm>
            <a:off x="548640" y="58064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2"/>
                </a:solidFill>
              </a:rPr>
              <a:t>Each cell: mean time to first token / output tokens per second. Each run starts a fresh server with empty caches.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C8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 DRAM, less performance; more DRAM, better performance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61188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Achieved just with LifeboatCache on top of vLLM, SGLang or Lifeboat.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ifeboatCache">
  <a:themeElements>
    <a:clrScheme name="LifeboatCache">
      <a:dk1>
        <a:srgbClr val="1B2430"/>
      </a:dk1>
      <a:lt1>
        <a:srgbClr val="FFFFFF"/>
      </a:lt1>
      <a:dk2>
        <a:srgbClr val="0B2545"/>
      </a:dk2>
      <a:lt2>
        <a:srgbClr val="EEF3F7"/>
      </a:lt2>
      <a:accent1>
        <a:srgbClr val="0E9F8E"/>
      </a:accent1>
      <a:accent2>
        <a:srgbClr val="5B6C8F"/>
      </a:accent2>
      <a:accent3>
        <a:srgbClr val="A3AEBD"/>
      </a:accent3>
      <a:accent4>
        <a:srgbClr val="F2A541"/>
      </a:accent4>
      <a:accent5>
        <a:srgbClr val="13315C"/>
      </a:accent5>
      <a:accent6>
        <a:srgbClr val="8AC6BE"/>
      </a:accent6>
      <a:hlink>
        <a:srgbClr val="0E9F8E"/>
      </a:hlink>
      <a:folHlink>
        <a:srgbClr val="5B6C8F"/>
      </a:folHlink>
    </a:clrScheme>
    <a:fontScheme name="LifeboatCach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Iterate.ai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LifeboatCache on vLLM: agentic KV-cache offload on 4x RTX PRO 6000</dc:title>
  <dc:subject>PptxGenJS Presentation</dc:subject>
  <dc:creator>PptxGenJS</dc:creator>
  <cp:lastModifiedBy>PptxGenJS</cp:lastModifiedBy>
  <cp:revision>1</cp:revision>
  <dcterms:created xsi:type="dcterms:W3CDTF">2026-10-31T13:30:27Z</dcterms:created>
  <dcterms:modified xsi:type="dcterms:W3CDTF">2026-10-31T13:30:27Z</dcterms:modified>
</cp:coreProperties>
</file>