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to first token (s)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25.4</c:v>
                </c:pt>
                <c:pt idx="1">
                  <c:v>21.8</c:v>
                </c:pt>
                <c:pt idx="2">
                  <c:v>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tokens/s,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tokens/s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211</c:v>
                </c:pt>
                <c:pt idx="2">
                  <c:v>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 at 64 users, by host DRAM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GB</c:v>
                  </c:pt>
                  <c:pt idx="1">
                    <c:v>32 GB</c:v>
                  </c:pt>
                  <c:pt idx="2">
                    <c:v>64 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211</c:v>
                </c:pt>
                <c:pt idx="2">
                  <c:v>268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GB</c:v>
                  </c:pt>
                  <c:pt idx="1">
                    <c:v>32 GB</c:v>
                  </c:pt>
                  <c:pt idx="2">
                    <c:v>64 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310</c:v>
                </c:pt>
                <c:pt idx="1">
                  <c:v>323</c:v>
                </c:pt>
                <c:pt idx="2">
                  <c:v>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 at 64 users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GB</c:v>
                  </c:pt>
                  <c:pt idx="1">
                    <c:v>32 GB</c:v>
                  </c:pt>
                  <c:pt idx="2">
                    <c:v>64 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25.2</c:v>
                </c:pt>
                <c:pt idx="1">
                  <c:v>21.8</c:v>
                </c:pt>
                <c:pt idx="2">
                  <c:v>16.6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GB</c:v>
                  </c:pt>
                  <c:pt idx="1">
                    <c:v>32 GB</c:v>
                  </c:pt>
                  <c:pt idx="2">
                    <c:v>64 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13.5</c:v>
                </c:pt>
                <c:pt idx="1">
                  <c:v>13</c:v>
                </c:pt>
                <c:pt idx="2">
                  <c:v>12.8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8F"/>
                </a:solidFill>
              </a:rPr>
              <a:t>LifeboatCache  |  Iterate.ai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LifeboatCache on vLLM: agentic KV-cache offload on RTX PRO 6000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Real agent sessions, 16 to 64 concurrent users, 16 to 64 GB of host DRAM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64 users, LifeboatCache halves time to first token</a:t>
            </a:r>
            <a:endParaRPr lang="en-US" sz="3200" dirty="0"/>
          </a:p>
        </p:txBody>
      </p:sp>
      <p:sp>
        <p:nvSpPr>
          <p:cNvPr id="3" name="ttft card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tft value"/>
          <p:cNvSpPr txBox="1"/>
          <p:nvPr/>
        </p:nvSpPr>
        <p:spPr>
          <a:xfrm>
            <a:off x="82296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1.95x</a:t>
            </a:r>
            <a:endParaRPr lang="en-US" sz="4800" dirty="0"/>
          </a:p>
        </p:txBody>
      </p:sp>
      <p:sp>
        <p:nvSpPr>
          <p:cNvPr id="5" name="ttft label"/>
          <p:cNvSpPr txBox="1"/>
          <p:nvPr/>
        </p:nvSpPr>
        <p:spPr>
          <a:xfrm>
            <a:off x="82296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faster time to first token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13.0 s vs 25.4 s with vLLM alone</a:t>
            </a:r>
            <a:endParaRPr lang="en-US" sz="1600" dirty="0"/>
          </a:p>
        </p:txBody>
      </p:sp>
      <p:sp>
        <p:nvSpPr>
          <p:cNvPr id="6" name="tps card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ps value"/>
          <p:cNvSpPr txBox="1"/>
          <p:nvPr/>
        </p:nvSpPr>
        <p:spPr>
          <a:xfrm>
            <a:off x="461772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+79%</a:t>
            </a:r>
            <a:endParaRPr lang="en-US" sz="4800" dirty="0"/>
          </a:p>
        </p:txBody>
      </p:sp>
      <p:sp>
        <p:nvSpPr>
          <p:cNvPr id="8" name="tps label"/>
          <p:cNvSpPr txBox="1"/>
          <p:nvPr/>
        </p:nvSpPr>
        <p:spPr>
          <a:xfrm>
            <a:off x="461772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 tokens per second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323 vs 180 tok/s with vLLM alone</a:t>
            </a:r>
            <a:endParaRPr lang="en-US" sz="1600" dirty="0"/>
          </a:p>
        </p:txBody>
      </p:sp>
      <p:sp>
        <p:nvSpPr>
          <p:cNvPr id="9" name="vs lmcache card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vs lmcache value"/>
          <p:cNvSpPr txBox="1"/>
          <p:nvPr/>
        </p:nvSpPr>
        <p:spPr>
          <a:xfrm>
            <a:off x="841248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+53%</a:t>
            </a:r>
            <a:endParaRPr lang="en-US" sz="4800" dirty="0"/>
          </a:p>
        </p:txBody>
      </p:sp>
      <p:sp>
        <p:nvSpPr>
          <p:cNvPr id="11" name="vs lmcache label"/>
          <p:cNvSpPr txBox="1"/>
          <p:nvPr/>
        </p:nvSpPr>
        <p:spPr>
          <a:xfrm>
            <a:off x="841248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throughput vs vLLM + LMCache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same 32 GB of DRAM: 323 vs 211 tok/s</a:t>
            </a:r>
            <a:endParaRPr lang="en-US" sz="1600" dirty="0"/>
          </a:p>
        </p:txBody>
      </p:sp>
      <p:sp>
        <p:nvSpPr>
          <p:cNvPr id="12" name="summary text"/>
          <p:cNvSpPr txBox="1"/>
          <p:nvPr/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LifeboatCache keeps returning agents' KV cache across GPU, host DRAM and local NVMe, so a session that comes back is served from cache instead of being recomputed.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It led at every DRAM size tested (16, 32 and 64 GB) and added no overhead at light load.</a:t>
            </a:r>
            <a:endParaRPr lang="en-US" sz="16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vLLM 0.32 on 1x RTX PRO 6000 (96 GB), Qwen3-30B-A3B, 64 concurrent agents, 32 GB host DRAM tier for both caches. Mean time to first token; sustained output tokens/s.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setup</a:t>
            </a:r>
            <a:endParaRPr lang="en-US" sz="3200" dirty="0"/>
          </a:p>
        </p:txBody>
      </p:sp>
      <p:sp>
        <p:nvSpPr>
          <p:cNvPr id="3" name="Hardware card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Hardware heading"/>
          <p:cNvSpPr txBox="1"/>
          <p:nvPr/>
        </p:nvSpPr>
        <p:spPr>
          <a:xfrm>
            <a:off x="77724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000" dirty="0"/>
          </a:p>
        </p:txBody>
      </p:sp>
      <p:sp>
        <p:nvSpPr>
          <p:cNvPr id="5" name="Hardware text"/>
          <p:cNvSpPr txBox="1"/>
          <p:nvPr/>
        </p:nvSpPr>
        <p:spPr>
          <a:xfrm>
            <a:off x="777240" y="22402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1x NVIDIA RTX PRO 6000 Blackwell, 96 GB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AMD EPYC 9554, 1.5 TB RAM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Local NVMe for the disk tier</a:t>
            </a:r>
            <a:endParaRPr lang="en-US" sz="1500" dirty="0"/>
          </a:p>
        </p:txBody>
      </p:sp>
      <p:sp>
        <p:nvSpPr>
          <p:cNvPr id="6" name="Software card"/>
          <p:cNvSpPr/>
          <p:nvPr/>
        </p:nvSpPr>
        <p:spPr>
          <a:xfrm>
            <a:off x="3383280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Software heading"/>
          <p:cNvSpPr txBox="1"/>
          <p:nvPr/>
        </p:nvSpPr>
        <p:spPr>
          <a:xfrm>
            <a:off x="361188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000" dirty="0"/>
          </a:p>
        </p:txBody>
      </p:sp>
      <p:sp>
        <p:nvSpPr>
          <p:cNvPr id="8" name="Software text"/>
          <p:cNvSpPr txBox="1"/>
          <p:nvPr/>
        </p:nvSpPr>
        <p:spPr>
          <a:xfrm>
            <a:off x="3611880" y="22402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0.32.0, Qwen3-30B-A3B (bf16)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LMCache 0.5.6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LifeboatCache 0.1.23</a:t>
            </a:r>
            <a:endParaRPr lang="en-US" sz="1500" dirty="0"/>
          </a:p>
        </p:txBody>
      </p:sp>
      <p:sp>
        <p:nvSpPr>
          <p:cNvPr id="9" name="Workload card"/>
          <p:cNvSpPr/>
          <p:nvPr/>
        </p:nvSpPr>
        <p:spPr>
          <a:xfrm>
            <a:off x="6217920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Workload heading"/>
          <p:cNvSpPr txBox="1"/>
          <p:nvPr/>
        </p:nvSpPr>
        <p:spPr>
          <a:xfrm>
            <a:off x="644652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</a:t>
            </a:r>
            <a:endParaRPr lang="en-US" sz="2000" dirty="0"/>
          </a:p>
        </p:txBody>
      </p:sp>
      <p:sp>
        <p:nvSpPr>
          <p:cNvPr id="11" name="Workload text"/>
          <p:cNvSpPr txBox="1"/>
          <p:nvPr/>
        </p:nvSpPr>
        <p:spPr>
          <a:xfrm>
            <a:off x="6446520" y="22402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Real agent sessions (SWE-bench Verified, GAIA, WildClawBench) replayed turn by turn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 rounds per agent, 256 output tokens, 40,960-token context</a:t>
            </a:r>
            <a:endParaRPr lang="en-US" sz="1500" dirty="0"/>
          </a:p>
        </p:txBody>
      </p:sp>
      <p:sp>
        <p:nvSpPr>
          <p:cNvPr id="12" name="Configurations card"/>
          <p:cNvSpPr/>
          <p:nvPr/>
        </p:nvSpPr>
        <p:spPr>
          <a:xfrm>
            <a:off x="9052560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Configurations heading"/>
          <p:cNvSpPr txBox="1"/>
          <p:nvPr/>
        </p:nvSpPr>
        <p:spPr>
          <a:xfrm>
            <a:off x="928116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Configurations</a:t>
            </a:r>
            <a:endParaRPr lang="en-US" sz="2000" dirty="0"/>
          </a:p>
        </p:txBody>
      </p:sp>
      <p:sp>
        <p:nvSpPr>
          <p:cNvPr id="14" name="Configurations text"/>
          <p:cNvSpPr txBox="1"/>
          <p:nvPr/>
        </p:nvSpPr>
        <p:spPr>
          <a:xfrm>
            <a:off x="9281160" y="22402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alone (GPU prefix cache)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+ LMCache (host DRAM)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+ LifeboatCache (host DRAM + NVMe)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DRAM tier: 16, 32, 64 GB</a:t>
            </a:r>
            <a:endParaRPr lang="en-US" sz="1500" dirty="0"/>
          </a:p>
        </p:txBody>
      </p:sp>
      <p:sp>
        <p:nvSpPr>
          <p:cNvPr id="15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Every cell starts a fresh server with empty caches and sends the same requests and output lengths. About 1% of requests (sessions longer than the 40,960-token context) are rejected identically in every configuration.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users at 32 GB DRAM: LifeboatCache leads</a:t>
            </a:r>
            <a:endParaRPr lang="en-US" sz="3200" dirty="0"/>
          </a:p>
        </p:txBody>
      </p:sp>
      <p:graphicFrame>
        <p:nvGraphicFramePr>
          <p:cNvPr id="3" name="ttft chart" descr=""/>
          <p:cNvGraphicFramePr/>
          <p:nvPr/>
        </p:nvGraphicFramePr>
        <p:xfrm>
          <a:off x="54864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ps chart" descr=""/>
          <p:cNvGraphicFramePr/>
          <p:nvPr/>
        </p:nvGraphicFramePr>
        <p:xfrm>
          <a:off x="621792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p99 time to first token: vLLM alone 49.9 s, + LMCache 43.9 s, + LifeboatCache 29.7 s. Share of prompt tokens served from cache: 2%, 27%, 75%.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DRAM, better performance</a:t>
            </a:r>
            <a:endParaRPr lang="en-US" sz="3200" dirty="0"/>
          </a:p>
        </p:txBody>
      </p:sp>
      <p:graphicFrame>
        <p:nvGraphicFramePr>
          <p:cNvPr id="3" name="dram tps chart" descr=""/>
          <p:cNvGraphicFramePr/>
          <p:nvPr/>
        </p:nvGraphicFramePr>
        <p:xfrm>
          <a:off x="54864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dram ttft chart" descr=""/>
          <p:cNvGraphicFramePr/>
          <p:nvPr/>
        </p:nvGraphicFramePr>
        <p:xfrm>
          <a:off x="621792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vLLM alone, for reference: 180 tok/s and 25.4 s. Both caches gain from more DRAM; LifeboatCache also keeps KV on local NVMe, so it starts higher.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users: the same pattern at moderate load</a:t>
            </a:r>
            <a:endParaRPr lang="en-US" sz="3200" dirty="0"/>
          </a:p>
        </p:txBody>
      </p:sp>
      <p:graphicFrame>
        <p:nvGraphicFramePr>
          <p:cNvPr id="7" name="32 us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01752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DRAM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alone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 s  /  194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6.69 s  /  209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 s  /  312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 s  /  194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 s  /  266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3.59 s  /  313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5B6C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 s  /  194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s  /  317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 s  /  315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Each cell: mean time to first token / output tokens per second.</a:t>
            </a:r>
            <a:endParaRPr lang="en-US" sz="1400" dirty="0"/>
          </a:p>
        </p:txBody>
      </p:sp>
      <p:sp>
        <p:nvSpPr>
          <p:cNvPr id="5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vLLM alone uses no host DRAM tier, so its row is the same at every size.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users: no overhead at light load</a:t>
            </a:r>
            <a:endParaRPr lang="en-US" sz="3200" dirty="0"/>
          </a:p>
        </p:txBody>
      </p:sp>
      <p:sp>
        <p:nvSpPr>
          <p:cNvPr id="3" name="light vllm card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light vllm value"/>
          <p:cNvSpPr txBox="1"/>
          <p:nvPr/>
        </p:nvSpPr>
        <p:spPr>
          <a:xfrm>
            <a:off x="82296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 s</a:t>
            </a:r>
            <a:endParaRPr lang="en-US" sz="4800" dirty="0"/>
          </a:p>
        </p:txBody>
      </p:sp>
      <p:sp>
        <p:nvSpPr>
          <p:cNvPr id="5" name="light vllm label"/>
          <p:cNvSpPr txBox="1"/>
          <p:nvPr/>
        </p:nvSpPr>
        <p:spPr>
          <a:xfrm>
            <a:off x="82296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alone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296 output tok/s</a:t>
            </a:r>
            <a:endParaRPr lang="en-US" sz="1600" dirty="0"/>
          </a:p>
        </p:txBody>
      </p:sp>
      <p:sp>
        <p:nvSpPr>
          <p:cNvPr id="6" name="light lmcache card"/>
          <p:cNvSpPr/>
          <p:nvPr/>
        </p:nvSpPr>
        <p:spPr>
          <a:xfrm>
            <a:off x="434340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light lmcache value"/>
          <p:cNvSpPr txBox="1"/>
          <p:nvPr/>
        </p:nvSpPr>
        <p:spPr>
          <a:xfrm>
            <a:off x="46177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 s</a:t>
            </a:r>
            <a:endParaRPr lang="en-US" sz="4800" dirty="0"/>
          </a:p>
        </p:txBody>
      </p:sp>
      <p:sp>
        <p:nvSpPr>
          <p:cNvPr id="8" name="light lmcache label"/>
          <p:cNvSpPr txBox="1"/>
          <p:nvPr/>
        </p:nvSpPr>
        <p:spPr>
          <a:xfrm>
            <a:off x="461772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+ LMCache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294 output tok/s</a:t>
            </a:r>
            <a:endParaRPr lang="en-US" sz="1600" dirty="0"/>
          </a:p>
        </p:txBody>
      </p:sp>
      <p:sp>
        <p:nvSpPr>
          <p:cNvPr id="9" name="light lbc card"/>
          <p:cNvSpPr/>
          <p:nvPr/>
        </p:nvSpPr>
        <p:spPr>
          <a:xfrm>
            <a:off x="813816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light lbc value"/>
          <p:cNvSpPr txBox="1"/>
          <p:nvPr/>
        </p:nvSpPr>
        <p:spPr>
          <a:xfrm>
            <a:off x="841248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 s</a:t>
            </a:r>
            <a:endParaRPr lang="en-US" sz="4800" dirty="0"/>
          </a:p>
        </p:txBody>
      </p:sp>
      <p:sp>
        <p:nvSpPr>
          <p:cNvPr id="11" name="light lbc label"/>
          <p:cNvSpPr txBox="1"/>
          <p:nvPr/>
        </p:nvSpPr>
        <p:spPr>
          <a:xfrm>
            <a:off x="841248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+ LifeboatCache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296 output tok/s</a:t>
            </a:r>
            <a:endParaRPr lang="en-US" sz="1600" dirty="0"/>
          </a:p>
        </p:txBody>
      </p:sp>
      <p:sp>
        <p:nvSpPr>
          <p:cNvPr id="12" name="light text"/>
          <p:cNvSpPr txBox="1"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the GPU's own prefix cache holds every session, all three configurations perform the same: the offload tier is there for when load grows, without slowing the common case.</a:t>
            </a:r>
            <a:endParaRPr lang="en-US" sz="16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Mean time to first token shown; 32 GB DRAM tier for both caches.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runs agree</a:t>
            </a:r>
            <a:endParaRPr lang="en-US" sz="3200" dirty="0"/>
          </a:p>
        </p:txBody>
      </p:sp>
      <p:graphicFrame>
        <p:nvGraphicFramePr>
          <p:cNvPr id="9" name="repea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329184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(32 GB)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25.36 s  /  180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25.36 s  /  180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 s  /  194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 s  /  194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21.83 s  /  211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22.23 s  /  208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 s  /  266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 s  /  260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13.00 s  /  323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12.65 s  /  325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3.59 s  /  313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 s  /  314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Each cell: mean time to first token / output tokens per second. Each run starts a fresh server with empty caches.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DRAM, less performance; more DRAM, better performance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Achieved just with LifeboatCache on top of vLLM, SGLang or Lifeboat.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feboatCache">
  <a:themeElements>
    <a:clrScheme name="LifeboatCache">
      <a:dk1>
        <a:srgbClr val="1B2430"/>
      </a:dk1>
      <a:lt1>
        <a:srgbClr val="FFFFFF"/>
      </a:lt1>
      <a:dk2>
        <a:srgbClr val="0B2545"/>
      </a:dk2>
      <a:lt2>
        <a:srgbClr val="EEF3F7"/>
      </a:lt2>
      <a:accent1>
        <a:srgbClr val="0E9F8E"/>
      </a:accent1>
      <a:accent2>
        <a:srgbClr val="5B6C8F"/>
      </a:accent2>
      <a:accent3>
        <a:srgbClr val="A3AEBD"/>
      </a:accent3>
      <a:accent4>
        <a:srgbClr val="F2A541"/>
      </a:accent4>
      <a:accent5>
        <a:srgbClr val="13315C"/>
      </a:accent5>
      <a:accent6>
        <a:srgbClr val="8AC6BE"/>
      </a:accent6>
      <a:hlink>
        <a:srgbClr val="0E9F8E"/>
      </a:hlink>
      <a:folHlink>
        <a:srgbClr val="5B6C8F"/>
      </a:folHlink>
    </a:clrScheme>
    <a:fontScheme name="LifeboatCach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Iterate.ai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LifeboatCache on vLLM: agentic KV-cache offload</dc:title>
  <dc:subject>PptxGenJS Presentation</dc:subject>
  <dc:creator>PptxGenJS</dc:creator>
  <cp:lastModifiedBy>PptxGenJS</cp:lastModifiedBy>
  <cp:revision>1</cp:revision>
  <dcterms:created xsi:type="dcterms:W3CDTF">2026-10-30T11:06:53Z</dcterms:created>
  <dcterms:modified xsi:type="dcterms:W3CDTF">2026-10-30T11:06:53Z</dcterms:modified>
</cp:coreProperties>
</file>